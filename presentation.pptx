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spAutoFit/>
          </a:bodyPr>
          <a:lstStyle/>
          <a:p>
            <a:pPr algn="l">
              <a:defRPr sz="1100" b="1">
                <a:solidFill>
                  <a:srgbClr val="FF5E35"/>
                </a:solidFill>
                <a:latin typeface="Space Grotesk"/>
              </a:defRPr>
            </a:pPr>
            <a:r>
              <a:t>ĐN-UniShare</a:t>
            </a:r>
          </a:p>
        </p:txBody>
      </p:sp>
      <p:sp>
        <p:nvSpPr>
          <p:cNvPr id="3" name="TextBox 2"/>
          <p:cNvSpPr txBox="1"/>
          <p:nvPr/>
        </p:nvSpPr>
        <p:spPr>
          <a:xfrm>
            <a:off x="731520" y="731520"/>
            <a:ext cx="3657600" cy="274320"/>
          </a:xfrm>
          <a:prstGeom prst="rect">
            <a:avLst/>
          </a:prstGeom>
          <a:noFill/>
        </p:spPr>
        <p:txBody>
          <a:bodyPr wrap="square">
            <a:spAutoFit/>
          </a:bodyPr>
          <a:lstStyle/>
          <a:p>
            <a:pPr algn="l">
              <a:defRPr sz="900" b="0">
                <a:solidFill>
                  <a:srgbClr val="AAAABB"/>
                </a:solidFill>
                <a:latin typeface="Space Grotesk"/>
              </a:defRPr>
            </a:pPr>
            <a:r>
              <a:t>Student Sharing Platform</a:t>
            </a:r>
          </a:p>
        </p:txBody>
      </p:sp>
      <p:sp>
        <p:nvSpPr>
          <p:cNvPr id="4" name="TextBox 3"/>
          <p:cNvSpPr txBox="1"/>
          <p:nvPr/>
        </p:nvSpPr>
        <p:spPr>
          <a:xfrm>
            <a:off x="731520" y="2286000"/>
            <a:ext cx="9144000" cy="457200"/>
          </a:xfrm>
          <a:prstGeom prst="rect">
            <a:avLst/>
          </a:prstGeom>
          <a:noFill/>
        </p:spPr>
        <p:txBody>
          <a:bodyPr wrap="square">
            <a:spAutoFit/>
          </a:bodyPr>
          <a:lstStyle/>
          <a:p>
            <a:pPr algn="l">
              <a:defRPr sz="1100" b="0">
                <a:solidFill>
                  <a:srgbClr val="AAAABB"/>
                </a:solidFill>
                <a:latin typeface="Space Grotesk"/>
              </a:defRPr>
            </a:pPr>
            <a:r>
              <a:t>Da Nang University Village</a:t>
            </a:r>
          </a:p>
        </p:txBody>
      </p:sp>
      <p:sp>
        <p:nvSpPr>
          <p:cNvPr id="5" name="TextBox 4"/>
          <p:cNvSpPr txBox="1"/>
          <p:nvPr/>
        </p:nvSpPr>
        <p:spPr>
          <a:xfrm>
            <a:off x="731520" y="2743200"/>
            <a:ext cx="10058400" cy="2286000"/>
          </a:xfrm>
          <a:prstGeom prst="rect">
            <a:avLst/>
          </a:prstGeom>
          <a:noFill/>
        </p:spPr>
        <p:txBody>
          <a:bodyPr wrap="square">
            <a:spAutoFit/>
          </a:bodyPr>
          <a:lstStyle/>
          <a:p>
            <a:pPr algn="l">
              <a:defRPr sz="6000" b="0">
                <a:solidFill>
                  <a:srgbClr val="FFFFFF"/>
                </a:solidFill>
                <a:latin typeface="Archivo Black"/>
              </a:defRPr>
            </a:pPr>
            <a:r>
              <a:t>Connect.</a:t>
            </a:r>
            <a:br/>
            <a:r>
              <a:t>Share.</a:t>
            </a:r>
            <a:br/>
            <a:r>
              <a:t>Thrive.</a:t>
            </a:r>
          </a:p>
        </p:txBody>
      </p:sp>
      <p:sp>
        <p:nvSpPr>
          <p:cNvPr id="6" name="TextBox 5"/>
          <p:cNvSpPr txBox="1"/>
          <p:nvPr/>
        </p:nvSpPr>
        <p:spPr>
          <a:xfrm>
            <a:off x="731520" y="5303520"/>
            <a:ext cx="9144000" cy="731520"/>
          </a:xfrm>
          <a:prstGeom prst="rect">
            <a:avLst/>
          </a:prstGeom>
          <a:noFill/>
        </p:spPr>
        <p:txBody>
          <a:bodyPr wrap="square">
            <a:spAutoFit/>
          </a:bodyPr>
          <a:lstStyle/>
          <a:p>
            <a:pPr algn="l">
              <a:defRPr sz="1800" b="0">
                <a:solidFill>
                  <a:srgbClr val="AAAABB"/>
                </a:solidFill>
                <a:latin typeface="Space Grotesk"/>
              </a:defRPr>
            </a:pPr>
            <a:r>
              <a:t>A student-powered platform for sharing books, supplies, meals &amp; more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01</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The Problem</a:t>
            </a:r>
          </a:p>
        </p:txBody>
      </p:sp>
      <p:sp>
        <p:nvSpPr>
          <p:cNvPr id="5" name="TextBox 4"/>
          <p:cNvSpPr txBox="1"/>
          <p:nvPr/>
        </p:nvSpPr>
        <p:spPr>
          <a:xfrm>
            <a:off x="731520" y="1828800"/>
            <a:ext cx="7315200" cy="1097280"/>
          </a:xfrm>
          <a:prstGeom prst="rect">
            <a:avLst/>
          </a:prstGeom>
          <a:noFill/>
        </p:spPr>
        <p:txBody>
          <a:bodyPr wrap="square">
            <a:spAutoFit/>
          </a:bodyPr>
          <a:lstStyle/>
          <a:p>
            <a:pPr algn="l">
              <a:defRPr sz="1600" b="0">
                <a:solidFill>
                  <a:srgbClr val="AAAABB"/>
                </a:solidFill>
                <a:latin typeface="Space Grotesk"/>
              </a:defRPr>
            </a:pPr>
            <a:r>
              <a:t>Every year at Da Nang University Village, tons of textbooks, dorm supplies, and study materials are abandoned when students graduate or move out. Meanwhile, thousands of new students buy the exact same items.</a:t>
            </a:r>
          </a:p>
        </p:txBody>
      </p:sp>
      <p:sp>
        <p:nvSpPr>
          <p:cNvPr id="6" name="Rounded Rectangle 5"/>
          <p:cNvSpPr/>
          <p:nvPr/>
        </p:nvSpPr>
        <p:spPr>
          <a:xfrm>
            <a:off x="731520" y="3200400"/>
            <a:ext cx="5029200" cy="22860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383280"/>
            <a:ext cx="914400" cy="457200"/>
          </a:xfrm>
          <a:prstGeom prst="rect">
            <a:avLst/>
          </a:prstGeom>
          <a:noFill/>
        </p:spPr>
        <p:txBody>
          <a:bodyPr wrap="square">
            <a:spAutoFit/>
          </a:bodyPr>
          <a:lstStyle/>
          <a:p>
            <a:pPr algn="ctr">
              <a:defRPr sz="2800" b="0">
                <a:solidFill>
                  <a:srgbClr val="FFFFFF"/>
                </a:solidFill>
                <a:latin typeface="Space Grotesk"/>
              </a:defRPr>
            </a:pPr>
            <a:r>
              <a:t>🎯</a:t>
            </a:r>
          </a:p>
        </p:txBody>
      </p:sp>
      <p:sp>
        <p:nvSpPr>
          <p:cNvPr id="8" name="TextBox 7"/>
          <p:cNvSpPr txBox="1"/>
          <p:nvPr/>
        </p:nvSpPr>
        <p:spPr>
          <a:xfrm>
            <a:off x="1097280" y="3931920"/>
            <a:ext cx="4297680" cy="640080"/>
          </a:xfrm>
          <a:prstGeom prst="rect">
            <a:avLst/>
          </a:prstGeom>
          <a:noFill/>
        </p:spPr>
        <p:txBody>
          <a:bodyPr wrap="square">
            <a:spAutoFit/>
          </a:bodyPr>
          <a:lstStyle/>
          <a:p>
            <a:pPr algn="ctr">
              <a:defRPr sz="4000" b="1">
                <a:solidFill>
                  <a:srgbClr val="FF5E35"/>
                </a:solidFill>
                <a:latin typeface="Archivo Black"/>
              </a:defRPr>
            </a:pPr>
            <a:r>
              <a:t>500+</a:t>
            </a:r>
          </a:p>
        </p:txBody>
      </p:sp>
      <p:sp>
        <p:nvSpPr>
          <p:cNvPr id="9" name="TextBox 8"/>
          <p:cNvSpPr txBox="1"/>
          <p:nvPr/>
        </p:nvSpPr>
        <p:spPr>
          <a:xfrm>
            <a:off x="1097280" y="4572000"/>
            <a:ext cx="4297680" cy="548640"/>
          </a:xfrm>
          <a:prstGeom prst="rect">
            <a:avLst/>
          </a:prstGeom>
          <a:noFill/>
        </p:spPr>
        <p:txBody>
          <a:bodyPr wrap="square">
            <a:spAutoFit/>
          </a:bodyPr>
          <a:lstStyle/>
          <a:p>
            <a:pPr algn="ctr">
              <a:defRPr sz="1400" b="0">
                <a:solidFill>
                  <a:srgbClr val="AAAABB"/>
                </a:solidFill>
                <a:latin typeface="Space Grotesk"/>
              </a:defRPr>
            </a:pPr>
            <a:r>
              <a:t>tons of student items wasted yearly</a:t>
            </a:r>
          </a:p>
        </p:txBody>
      </p:sp>
      <p:sp>
        <p:nvSpPr>
          <p:cNvPr id="10" name="Rounded Rectangle 9"/>
          <p:cNvSpPr/>
          <p:nvPr/>
        </p:nvSpPr>
        <p:spPr>
          <a:xfrm>
            <a:off x="6400800" y="3200400"/>
            <a:ext cx="5029200" cy="22860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3383280"/>
            <a:ext cx="914400" cy="457200"/>
          </a:xfrm>
          <a:prstGeom prst="rect">
            <a:avLst/>
          </a:prstGeom>
          <a:noFill/>
        </p:spPr>
        <p:txBody>
          <a:bodyPr wrap="square">
            <a:spAutoFit/>
          </a:bodyPr>
          <a:lstStyle/>
          <a:p>
            <a:pPr algn="ctr">
              <a:defRPr sz="2800" b="0">
                <a:solidFill>
                  <a:srgbClr val="FFFFFF"/>
                </a:solidFill>
                <a:latin typeface="Space Grotesk"/>
              </a:defRPr>
            </a:pPr>
            <a:r>
              <a:t>📋</a:t>
            </a:r>
          </a:p>
        </p:txBody>
      </p:sp>
      <p:sp>
        <p:nvSpPr>
          <p:cNvPr id="12" name="TextBox 11"/>
          <p:cNvSpPr txBox="1"/>
          <p:nvPr/>
        </p:nvSpPr>
        <p:spPr>
          <a:xfrm>
            <a:off x="6766560" y="3931920"/>
            <a:ext cx="4297680" cy="640080"/>
          </a:xfrm>
          <a:prstGeom prst="rect">
            <a:avLst/>
          </a:prstGeom>
          <a:noFill/>
        </p:spPr>
        <p:txBody>
          <a:bodyPr wrap="square">
            <a:spAutoFit/>
          </a:bodyPr>
          <a:lstStyle/>
          <a:p>
            <a:pPr algn="ctr">
              <a:defRPr sz="4000" b="1">
                <a:solidFill>
                  <a:srgbClr val="FF5E35"/>
                </a:solidFill>
                <a:latin typeface="Archivo Black"/>
              </a:defRPr>
            </a:pPr>
            <a:r>
              <a:t>10K+</a:t>
            </a:r>
          </a:p>
        </p:txBody>
      </p:sp>
      <p:sp>
        <p:nvSpPr>
          <p:cNvPr id="13" name="TextBox 12"/>
          <p:cNvSpPr txBox="1"/>
          <p:nvPr/>
        </p:nvSpPr>
        <p:spPr>
          <a:xfrm>
            <a:off x="6766560" y="4572000"/>
            <a:ext cx="4297680" cy="548640"/>
          </a:xfrm>
          <a:prstGeom prst="rect">
            <a:avLst/>
          </a:prstGeom>
          <a:noFill/>
        </p:spPr>
        <p:txBody>
          <a:bodyPr wrap="square">
            <a:spAutoFit/>
          </a:bodyPr>
          <a:lstStyle/>
          <a:p>
            <a:pPr algn="ctr">
              <a:defRPr sz="1400" b="0">
                <a:solidFill>
                  <a:srgbClr val="AAAABB"/>
                </a:solidFill>
                <a:latin typeface="Space Grotesk"/>
              </a:defRPr>
            </a:pPr>
            <a:r>
              <a:t>new students buying duplicates annually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02</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Our Mission</a:t>
            </a:r>
          </a:p>
        </p:txBody>
      </p:sp>
      <p:sp>
        <p:nvSpPr>
          <p:cNvPr id="5" name="TextBox 4"/>
          <p:cNvSpPr txBox="1"/>
          <p:nvPr/>
        </p:nvSpPr>
        <p:spPr>
          <a:xfrm>
            <a:off x="731520" y="1828800"/>
            <a:ext cx="7315200" cy="640080"/>
          </a:xfrm>
          <a:prstGeom prst="rect">
            <a:avLst/>
          </a:prstGeom>
          <a:noFill/>
        </p:spPr>
        <p:txBody>
          <a:bodyPr wrap="square">
            <a:spAutoFit/>
          </a:bodyPr>
          <a:lstStyle/>
          <a:p>
            <a:pPr algn="l">
              <a:defRPr sz="1600" b="0">
                <a:solidFill>
                  <a:srgbClr val="AAAABB"/>
                </a:solidFill>
                <a:latin typeface="Space Grotesk"/>
              </a:defRPr>
            </a:pPr>
            <a:r>
              <a:t>Connect students who no longer need items with those who do. One shared item at a time.</a:t>
            </a:r>
          </a:p>
        </p:txBody>
      </p:sp>
      <p:sp>
        <p:nvSpPr>
          <p:cNvPr id="6" name="Rounded Rectangle 5"/>
          <p:cNvSpPr/>
          <p:nvPr/>
        </p:nvSpPr>
        <p:spPr>
          <a:xfrm>
            <a:off x="731520" y="2743200"/>
            <a:ext cx="33832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17520"/>
            <a:ext cx="2834640" cy="548640"/>
          </a:xfrm>
          <a:prstGeom prst="rect">
            <a:avLst/>
          </a:prstGeom>
          <a:noFill/>
        </p:spPr>
        <p:txBody>
          <a:bodyPr wrap="square">
            <a:spAutoFit/>
          </a:bodyPr>
          <a:lstStyle/>
          <a:p>
            <a:pPr algn="ctr">
              <a:defRPr sz="3200" b="0">
                <a:solidFill>
                  <a:srgbClr val="FFFFFF"/>
                </a:solidFill>
                <a:latin typeface="Space Grotesk"/>
              </a:defRPr>
            </a:pPr>
            <a:r>
              <a:t>🌱</a:t>
            </a:r>
          </a:p>
        </p:txBody>
      </p:sp>
      <p:sp>
        <p:nvSpPr>
          <p:cNvPr id="8" name="TextBox 7"/>
          <p:cNvSpPr txBox="1"/>
          <p:nvPr/>
        </p:nvSpPr>
        <p:spPr>
          <a:xfrm>
            <a:off x="1005840" y="3566160"/>
            <a:ext cx="2834640" cy="457200"/>
          </a:xfrm>
          <a:prstGeom prst="rect">
            <a:avLst/>
          </a:prstGeom>
          <a:noFill/>
        </p:spPr>
        <p:txBody>
          <a:bodyPr wrap="square">
            <a:spAutoFit/>
          </a:bodyPr>
          <a:lstStyle/>
          <a:p>
            <a:pPr algn="ctr">
              <a:defRPr sz="2000" b="0">
                <a:solidFill>
                  <a:srgbClr val="FFFFFF"/>
                </a:solidFill>
                <a:latin typeface="Archivo Black"/>
              </a:defRPr>
            </a:pPr>
            <a:r>
              <a:t>Reduce Waste</a:t>
            </a:r>
          </a:p>
        </p:txBody>
      </p:sp>
      <p:sp>
        <p:nvSpPr>
          <p:cNvPr id="9" name="TextBox 8"/>
          <p:cNvSpPr txBox="1"/>
          <p:nvPr/>
        </p:nvSpPr>
        <p:spPr>
          <a:xfrm>
            <a:off x="1005840" y="4114800"/>
            <a:ext cx="2834640" cy="1371600"/>
          </a:xfrm>
          <a:prstGeom prst="rect">
            <a:avLst/>
          </a:prstGeom>
          <a:noFill/>
        </p:spPr>
        <p:txBody>
          <a:bodyPr wrap="square">
            <a:spAutoFit/>
          </a:bodyPr>
          <a:lstStyle/>
          <a:p>
            <a:pPr algn="ctr">
              <a:defRPr sz="1300" b="0">
                <a:solidFill>
                  <a:srgbClr val="AAAABB"/>
                </a:solidFill>
                <a:latin typeface="Space Grotesk"/>
              </a:defRPr>
            </a:pPr>
            <a:r>
              <a:t>Extend the lifecycle of student items and cut down landfill waste in the university community.</a:t>
            </a:r>
          </a:p>
        </p:txBody>
      </p:sp>
      <p:sp>
        <p:nvSpPr>
          <p:cNvPr id="10" name="Rounded Rectangle 9"/>
          <p:cNvSpPr/>
          <p:nvPr/>
        </p:nvSpPr>
        <p:spPr>
          <a:xfrm>
            <a:off x="4480559" y="2743200"/>
            <a:ext cx="33832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017520"/>
            <a:ext cx="2834640" cy="548640"/>
          </a:xfrm>
          <a:prstGeom prst="rect">
            <a:avLst/>
          </a:prstGeom>
          <a:noFill/>
        </p:spPr>
        <p:txBody>
          <a:bodyPr wrap="square">
            <a:spAutoFit/>
          </a:bodyPr>
          <a:lstStyle/>
          <a:p>
            <a:pPr algn="ctr">
              <a:defRPr sz="3200" b="0">
                <a:solidFill>
                  <a:srgbClr val="FFFFFF"/>
                </a:solidFill>
                <a:latin typeface="Space Grotesk"/>
              </a:defRPr>
            </a:pPr>
            <a:r>
              <a:t>💰</a:t>
            </a:r>
          </a:p>
        </p:txBody>
      </p:sp>
      <p:sp>
        <p:nvSpPr>
          <p:cNvPr id="12" name="TextBox 11"/>
          <p:cNvSpPr txBox="1"/>
          <p:nvPr/>
        </p:nvSpPr>
        <p:spPr>
          <a:xfrm>
            <a:off x="4754879" y="3566160"/>
            <a:ext cx="2834640" cy="457200"/>
          </a:xfrm>
          <a:prstGeom prst="rect">
            <a:avLst/>
          </a:prstGeom>
          <a:noFill/>
        </p:spPr>
        <p:txBody>
          <a:bodyPr wrap="square">
            <a:spAutoFit/>
          </a:bodyPr>
          <a:lstStyle/>
          <a:p>
            <a:pPr algn="ctr">
              <a:defRPr sz="2000" b="0">
                <a:solidFill>
                  <a:srgbClr val="FFFFFF"/>
                </a:solidFill>
                <a:latin typeface="Archivo Black"/>
              </a:defRPr>
            </a:pPr>
            <a:r>
              <a:t>Save Money</a:t>
            </a:r>
          </a:p>
        </p:txBody>
      </p:sp>
      <p:sp>
        <p:nvSpPr>
          <p:cNvPr id="13" name="TextBox 12"/>
          <p:cNvSpPr txBox="1"/>
          <p:nvPr/>
        </p:nvSpPr>
        <p:spPr>
          <a:xfrm>
            <a:off x="4754879" y="4114800"/>
            <a:ext cx="2834640" cy="1371600"/>
          </a:xfrm>
          <a:prstGeom prst="rect">
            <a:avLst/>
          </a:prstGeom>
          <a:noFill/>
        </p:spPr>
        <p:txBody>
          <a:bodyPr wrap="square">
            <a:spAutoFit/>
          </a:bodyPr>
          <a:lstStyle/>
          <a:p>
            <a:pPr algn="ctr">
              <a:defRPr sz="1300" b="0">
                <a:solidFill>
                  <a:srgbClr val="AAAABB"/>
                </a:solidFill>
                <a:latin typeface="Space Grotesk"/>
              </a:defRPr>
            </a:pPr>
            <a:r>
              <a:t>Help students access free or low-cost essentials and lighten their financial burden.</a:t>
            </a:r>
          </a:p>
        </p:txBody>
      </p:sp>
      <p:sp>
        <p:nvSpPr>
          <p:cNvPr id="14" name="Rounded Rectangle 13"/>
          <p:cNvSpPr/>
          <p:nvPr/>
        </p:nvSpPr>
        <p:spPr>
          <a:xfrm>
            <a:off x="8229600" y="2743200"/>
            <a:ext cx="33832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3017520"/>
            <a:ext cx="2834640" cy="548640"/>
          </a:xfrm>
          <a:prstGeom prst="rect">
            <a:avLst/>
          </a:prstGeom>
          <a:noFill/>
        </p:spPr>
        <p:txBody>
          <a:bodyPr wrap="square">
            <a:spAutoFit/>
          </a:bodyPr>
          <a:lstStyle/>
          <a:p>
            <a:pPr algn="ctr">
              <a:defRPr sz="3200" b="0">
                <a:solidFill>
                  <a:srgbClr val="FFFFFF"/>
                </a:solidFill>
                <a:latin typeface="Space Grotesk"/>
              </a:defRPr>
            </a:pPr>
            <a:r>
              <a:t>🤝</a:t>
            </a:r>
          </a:p>
        </p:txBody>
      </p:sp>
      <p:sp>
        <p:nvSpPr>
          <p:cNvPr id="16" name="TextBox 15"/>
          <p:cNvSpPr txBox="1"/>
          <p:nvPr/>
        </p:nvSpPr>
        <p:spPr>
          <a:xfrm>
            <a:off x="8503920" y="3566160"/>
            <a:ext cx="2834640" cy="457200"/>
          </a:xfrm>
          <a:prstGeom prst="rect">
            <a:avLst/>
          </a:prstGeom>
          <a:noFill/>
        </p:spPr>
        <p:txBody>
          <a:bodyPr wrap="square">
            <a:spAutoFit/>
          </a:bodyPr>
          <a:lstStyle/>
          <a:p>
            <a:pPr algn="ctr">
              <a:defRPr sz="2000" b="0">
                <a:solidFill>
                  <a:srgbClr val="FFFFFF"/>
                </a:solidFill>
                <a:latin typeface="Archivo Black"/>
              </a:defRPr>
            </a:pPr>
            <a:r>
              <a:t>Build Community</a:t>
            </a:r>
          </a:p>
        </p:txBody>
      </p:sp>
      <p:sp>
        <p:nvSpPr>
          <p:cNvPr id="17" name="TextBox 16"/>
          <p:cNvSpPr txBox="1"/>
          <p:nvPr/>
        </p:nvSpPr>
        <p:spPr>
          <a:xfrm>
            <a:off x="8503920" y="4114800"/>
            <a:ext cx="2834640" cy="1371600"/>
          </a:xfrm>
          <a:prstGeom prst="rect">
            <a:avLst/>
          </a:prstGeom>
          <a:noFill/>
        </p:spPr>
        <p:txBody>
          <a:bodyPr wrap="square">
            <a:spAutoFit/>
          </a:bodyPr>
          <a:lstStyle/>
          <a:p>
            <a:pPr algn="ctr">
              <a:defRPr sz="1300" b="0">
                <a:solidFill>
                  <a:srgbClr val="AAAABB"/>
                </a:solidFill>
                <a:latin typeface="Space Grotesk"/>
              </a:defRPr>
            </a:pPr>
            <a:r>
              <a:t>Foster a culture of generosity and connection across Da Nang's university village.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03</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How It Works</a:t>
            </a:r>
          </a:p>
        </p:txBody>
      </p:sp>
      <p:sp>
        <p:nvSpPr>
          <p:cNvPr id="5" name="TextBox 4"/>
          <p:cNvSpPr txBox="1"/>
          <p:nvPr/>
        </p:nvSpPr>
        <p:spPr>
          <a:xfrm>
            <a:off x="731520" y="1828800"/>
            <a:ext cx="7315200" cy="457200"/>
          </a:xfrm>
          <a:prstGeom prst="rect">
            <a:avLst/>
          </a:prstGeom>
          <a:noFill/>
        </p:spPr>
        <p:txBody>
          <a:bodyPr wrap="square">
            <a:spAutoFit/>
          </a:bodyPr>
          <a:lstStyle/>
          <a:p>
            <a:pPr algn="l">
              <a:defRPr sz="1600" b="0">
                <a:solidFill>
                  <a:srgbClr val="AAAABB"/>
                </a:solidFill>
                <a:latin typeface="Space Grotesk"/>
              </a:defRPr>
            </a:pPr>
            <a:r>
              <a:t>Three simple steps to start sharing.</a:t>
            </a:r>
          </a:p>
        </p:txBody>
      </p:sp>
      <p:sp>
        <p:nvSpPr>
          <p:cNvPr id="6" name="Rounded Rectangle 5"/>
          <p:cNvSpPr/>
          <p:nvPr/>
        </p:nvSpPr>
        <p:spPr>
          <a:xfrm>
            <a:off x="731520" y="2743200"/>
            <a:ext cx="33832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17520"/>
            <a:ext cx="2834640" cy="457200"/>
          </a:xfrm>
          <a:prstGeom prst="rect">
            <a:avLst/>
          </a:prstGeom>
          <a:noFill/>
        </p:spPr>
        <p:txBody>
          <a:bodyPr wrap="square">
            <a:spAutoFit/>
          </a:bodyPr>
          <a:lstStyle/>
          <a:p>
            <a:pPr algn="l">
              <a:defRPr sz="2800" b="1">
                <a:solidFill>
                  <a:srgbClr val="FF5E35"/>
                </a:solidFill>
                <a:latin typeface="Archivo Black"/>
              </a:defRPr>
            </a:pPr>
            <a:r>
              <a:t>01</a:t>
            </a:r>
          </a:p>
        </p:txBody>
      </p:sp>
      <p:sp>
        <p:nvSpPr>
          <p:cNvPr id="8" name="TextBox 7"/>
          <p:cNvSpPr txBox="1"/>
          <p:nvPr/>
        </p:nvSpPr>
        <p:spPr>
          <a:xfrm>
            <a:off x="1005840" y="3474720"/>
            <a:ext cx="2834640" cy="457200"/>
          </a:xfrm>
          <a:prstGeom prst="rect">
            <a:avLst/>
          </a:prstGeom>
          <a:noFill/>
        </p:spPr>
        <p:txBody>
          <a:bodyPr wrap="square">
            <a:spAutoFit/>
          </a:bodyPr>
          <a:lstStyle/>
          <a:p>
            <a:pPr algn="l">
              <a:defRPr sz="1800" b="0">
                <a:solidFill>
                  <a:srgbClr val="FFFFFF"/>
                </a:solidFill>
                <a:latin typeface="Archivo Black"/>
              </a:defRPr>
            </a:pPr>
            <a:r>
              <a:t>Post an Item</a:t>
            </a:r>
          </a:p>
        </p:txBody>
      </p:sp>
      <p:sp>
        <p:nvSpPr>
          <p:cNvPr id="9" name="TextBox 8"/>
          <p:cNvSpPr txBox="1"/>
          <p:nvPr/>
        </p:nvSpPr>
        <p:spPr>
          <a:xfrm>
            <a:off x="1005840" y="4114800"/>
            <a:ext cx="2834640" cy="1371600"/>
          </a:xfrm>
          <a:prstGeom prst="rect">
            <a:avLst/>
          </a:prstGeom>
          <a:noFill/>
        </p:spPr>
        <p:txBody>
          <a:bodyPr wrap="square">
            <a:spAutoFit/>
          </a:bodyPr>
          <a:lstStyle/>
          <a:p>
            <a:pPr algn="l">
              <a:defRPr sz="1300" b="0">
                <a:solidFill>
                  <a:srgbClr val="AAAABB"/>
                </a:solidFill>
                <a:latin typeface="Space Grotesk"/>
              </a:defRPr>
            </a:pPr>
            <a:r>
              <a:t>Snap a photo, pick a category, describe the condition, and set a meetup point.</a:t>
            </a:r>
          </a:p>
        </p:txBody>
      </p:sp>
      <p:sp>
        <p:nvSpPr>
          <p:cNvPr id="10" name="Rounded Rectangle 9"/>
          <p:cNvSpPr/>
          <p:nvPr/>
        </p:nvSpPr>
        <p:spPr>
          <a:xfrm>
            <a:off x="4480559" y="2743200"/>
            <a:ext cx="33832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017520"/>
            <a:ext cx="2834640" cy="457200"/>
          </a:xfrm>
          <a:prstGeom prst="rect">
            <a:avLst/>
          </a:prstGeom>
          <a:noFill/>
        </p:spPr>
        <p:txBody>
          <a:bodyPr wrap="square">
            <a:spAutoFit/>
          </a:bodyPr>
          <a:lstStyle/>
          <a:p>
            <a:pPr algn="l">
              <a:defRPr sz="2800" b="1">
                <a:solidFill>
                  <a:srgbClr val="FF5E35"/>
                </a:solidFill>
                <a:latin typeface="Archivo Black"/>
              </a:defRPr>
            </a:pPr>
            <a:r>
              <a:t>02</a:t>
            </a:r>
          </a:p>
        </p:txBody>
      </p:sp>
      <p:sp>
        <p:nvSpPr>
          <p:cNvPr id="12" name="TextBox 11"/>
          <p:cNvSpPr txBox="1"/>
          <p:nvPr/>
        </p:nvSpPr>
        <p:spPr>
          <a:xfrm>
            <a:off x="4754879" y="3474720"/>
            <a:ext cx="2834640" cy="457200"/>
          </a:xfrm>
          <a:prstGeom prst="rect">
            <a:avLst/>
          </a:prstGeom>
          <a:noFill/>
        </p:spPr>
        <p:txBody>
          <a:bodyPr wrap="square">
            <a:spAutoFit/>
          </a:bodyPr>
          <a:lstStyle/>
          <a:p>
            <a:pPr algn="l">
              <a:defRPr sz="1800" b="0">
                <a:solidFill>
                  <a:srgbClr val="FFFFFF"/>
                </a:solidFill>
                <a:latin typeface="Archivo Black"/>
              </a:defRPr>
            </a:pPr>
            <a:r>
              <a:t>Discover &amp; Request</a:t>
            </a:r>
          </a:p>
        </p:txBody>
      </p:sp>
      <p:sp>
        <p:nvSpPr>
          <p:cNvPr id="13" name="TextBox 12"/>
          <p:cNvSpPr txBox="1"/>
          <p:nvPr/>
        </p:nvSpPr>
        <p:spPr>
          <a:xfrm>
            <a:off x="4754879" y="4114800"/>
            <a:ext cx="2834640" cy="1371600"/>
          </a:xfrm>
          <a:prstGeom prst="rect">
            <a:avLst/>
          </a:prstGeom>
          <a:noFill/>
        </p:spPr>
        <p:txBody>
          <a:bodyPr wrap="square">
            <a:spAutoFit/>
          </a:bodyPr>
          <a:lstStyle/>
          <a:p>
            <a:pPr algn="l">
              <a:defRPr sz="1300" b="0">
                <a:solidFill>
                  <a:srgbClr val="AAAABB"/>
                </a:solidFill>
                <a:latin typeface="Space Grotesk"/>
              </a:defRPr>
            </a:pPr>
            <a:r>
              <a:t>Browse listings, filter by category, and send a request to claim an item.</a:t>
            </a:r>
          </a:p>
        </p:txBody>
      </p:sp>
      <p:sp>
        <p:nvSpPr>
          <p:cNvPr id="14" name="Rounded Rectangle 13"/>
          <p:cNvSpPr/>
          <p:nvPr/>
        </p:nvSpPr>
        <p:spPr>
          <a:xfrm>
            <a:off x="8229600" y="2743200"/>
            <a:ext cx="33832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3017520"/>
            <a:ext cx="2834640" cy="457200"/>
          </a:xfrm>
          <a:prstGeom prst="rect">
            <a:avLst/>
          </a:prstGeom>
          <a:noFill/>
        </p:spPr>
        <p:txBody>
          <a:bodyPr wrap="square">
            <a:spAutoFit/>
          </a:bodyPr>
          <a:lstStyle/>
          <a:p>
            <a:pPr algn="l">
              <a:defRPr sz="2800" b="1">
                <a:solidFill>
                  <a:srgbClr val="FF5E35"/>
                </a:solidFill>
                <a:latin typeface="Archivo Black"/>
              </a:defRPr>
            </a:pPr>
            <a:r>
              <a:t>03</a:t>
            </a:r>
          </a:p>
        </p:txBody>
      </p:sp>
      <p:sp>
        <p:nvSpPr>
          <p:cNvPr id="16" name="TextBox 15"/>
          <p:cNvSpPr txBox="1"/>
          <p:nvPr/>
        </p:nvSpPr>
        <p:spPr>
          <a:xfrm>
            <a:off x="8503920" y="3474720"/>
            <a:ext cx="2834640" cy="457200"/>
          </a:xfrm>
          <a:prstGeom prst="rect">
            <a:avLst/>
          </a:prstGeom>
          <a:noFill/>
        </p:spPr>
        <p:txBody>
          <a:bodyPr wrap="square">
            <a:spAutoFit/>
          </a:bodyPr>
          <a:lstStyle/>
          <a:p>
            <a:pPr algn="l">
              <a:defRPr sz="1800" b="0">
                <a:solidFill>
                  <a:srgbClr val="FFFFFF"/>
                </a:solidFill>
                <a:latin typeface="Archivo Black"/>
              </a:defRPr>
            </a:pPr>
            <a:r>
              <a:t>Connect &amp; Pickup</a:t>
            </a:r>
          </a:p>
        </p:txBody>
      </p:sp>
      <p:sp>
        <p:nvSpPr>
          <p:cNvPr id="17" name="TextBox 16"/>
          <p:cNvSpPr txBox="1"/>
          <p:nvPr/>
        </p:nvSpPr>
        <p:spPr>
          <a:xfrm>
            <a:off x="8503920" y="4114800"/>
            <a:ext cx="2834640" cy="1371600"/>
          </a:xfrm>
          <a:prstGeom prst="rect">
            <a:avLst/>
          </a:prstGeom>
          <a:noFill/>
        </p:spPr>
        <p:txBody>
          <a:bodyPr wrap="square">
            <a:spAutoFit/>
          </a:bodyPr>
          <a:lstStyle/>
          <a:p>
            <a:pPr algn="l">
              <a:defRPr sz="1300" b="0">
                <a:solidFill>
                  <a:srgbClr val="AAAABB"/>
                </a:solidFill>
                <a:latin typeface="Space Grotesk"/>
              </a:defRPr>
            </a:pPr>
            <a:r>
              <a:t>Get approved, meet at a safe campus location, and pass it forward.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04</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Core Features</a:t>
            </a:r>
          </a:p>
        </p:txBody>
      </p:sp>
      <p:sp>
        <p:nvSpPr>
          <p:cNvPr id="5" name="Rounded Rectangle 4"/>
          <p:cNvSpPr/>
          <p:nvPr/>
        </p:nvSpPr>
        <p:spPr>
          <a:xfrm>
            <a:off x="731520" y="2011680"/>
            <a:ext cx="3383280" cy="19202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457200" cy="365760"/>
          </a:xfrm>
          <a:prstGeom prst="rect">
            <a:avLst/>
          </a:prstGeom>
          <a:noFill/>
        </p:spPr>
        <p:txBody>
          <a:bodyPr wrap="square">
            <a:spAutoFit/>
          </a:bodyPr>
          <a:lstStyle/>
          <a:p>
            <a:pPr algn="l">
              <a:defRPr sz="2200" b="0">
                <a:solidFill>
                  <a:srgbClr val="FFFFFF"/>
                </a:solidFill>
                <a:latin typeface="Space Grotesk"/>
              </a:defRPr>
            </a:pPr>
            <a:r>
              <a:t>📥</a:t>
            </a:r>
          </a:p>
        </p:txBody>
      </p:sp>
      <p:sp>
        <p:nvSpPr>
          <p:cNvPr id="7" name="TextBox 6"/>
          <p:cNvSpPr txBox="1"/>
          <p:nvPr/>
        </p:nvSpPr>
        <p:spPr>
          <a:xfrm>
            <a:off x="1554480" y="2194560"/>
            <a:ext cx="2286000" cy="365760"/>
          </a:xfrm>
          <a:prstGeom prst="rect">
            <a:avLst/>
          </a:prstGeom>
          <a:noFill/>
        </p:spPr>
        <p:txBody>
          <a:bodyPr wrap="square">
            <a:spAutoFit/>
          </a:bodyPr>
          <a:lstStyle/>
          <a:p>
            <a:pPr algn="l">
              <a:defRPr sz="1600" b="0">
                <a:solidFill>
                  <a:srgbClr val="FFFFFF"/>
                </a:solidFill>
                <a:latin typeface="Archivo Black"/>
              </a:defRPr>
            </a:pPr>
            <a:r>
              <a:t>Post Items</a:t>
            </a:r>
          </a:p>
        </p:txBody>
      </p:sp>
      <p:sp>
        <p:nvSpPr>
          <p:cNvPr id="8" name="TextBox 7"/>
          <p:cNvSpPr txBox="1"/>
          <p:nvPr/>
        </p:nvSpPr>
        <p:spPr>
          <a:xfrm>
            <a:off x="1005840" y="2743200"/>
            <a:ext cx="2834640" cy="914400"/>
          </a:xfrm>
          <a:prstGeom prst="rect">
            <a:avLst/>
          </a:prstGeom>
          <a:noFill/>
        </p:spPr>
        <p:txBody>
          <a:bodyPr wrap="square">
            <a:spAutoFit/>
          </a:bodyPr>
          <a:lstStyle/>
          <a:p>
            <a:pPr algn="l">
              <a:defRPr sz="1200" b="0">
                <a:solidFill>
                  <a:srgbClr val="AAAABB"/>
                </a:solidFill>
                <a:latin typeface="Space Grotesk"/>
              </a:defRPr>
            </a:pPr>
            <a:r>
              <a:t>Optimized form with categories, condition, and campus meetup points.</a:t>
            </a:r>
          </a:p>
        </p:txBody>
      </p:sp>
      <p:sp>
        <p:nvSpPr>
          <p:cNvPr id="9" name="Rounded Rectangle 8"/>
          <p:cNvSpPr/>
          <p:nvPr/>
        </p:nvSpPr>
        <p:spPr>
          <a:xfrm>
            <a:off x="4480559" y="2011680"/>
            <a:ext cx="3383280" cy="19202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2194560"/>
            <a:ext cx="457200" cy="365760"/>
          </a:xfrm>
          <a:prstGeom prst="rect">
            <a:avLst/>
          </a:prstGeom>
          <a:noFill/>
        </p:spPr>
        <p:txBody>
          <a:bodyPr wrap="square">
            <a:spAutoFit/>
          </a:bodyPr>
          <a:lstStyle/>
          <a:p>
            <a:pPr algn="l">
              <a:defRPr sz="2200" b="0">
                <a:solidFill>
                  <a:srgbClr val="FFFFFF"/>
                </a:solidFill>
                <a:latin typeface="Space Grotesk"/>
              </a:defRPr>
            </a:pPr>
            <a:r>
              <a:t>🔍</a:t>
            </a:r>
          </a:p>
        </p:txBody>
      </p:sp>
      <p:sp>
        <p:nvSpPr>
          <p:cNvPr id="11" name="TextBox 10"/>
          <p:cNvSpPr txBox="1"/>
          <p:nvPr/>
        </p:nvSpPr>
        <p:spPr>
          <a:xfrm>
            <a:off x="5303520" y="2194560"/>
            <a:ext cx="2286000" cy="365760"/>
          </a:xfrm>
          <a:prstGeom prst="rect">
            <a:avLst/>
          </a:prstGeom>
          <a:noFill/>
        </p:spPr>
        <p:txBody>
          <a:bodyPr wrap="square">
            <a:spAutoFit/>
          </a:bodyPr>
          <a:lstStyle/>
          <a:p>
            <a:pPr algn="l">
              <a:defRPr sz="1600" b="0">
                <a:solidFill>
                  <a:srgbClr val="FFFFFF"/>
                </a:solidFill>
                <a:latin typeface="Archivo Black"/>
              </a:defRPr>
            </a:pPr>
            <a:r>
              <a:t>Explore &amp; Search</a:t>
            </a:r>
          </a:p>
        </p:txBody>
      </p:sp>
      <p:sp>
        <p:nvSpPr>
          <p:cNvPr id="12" name="TextBox 11"/>
          <p:cNvSpPr txBox="1"/>
          <p:nvPr/>
        </p:nvSpPr>
        <p:spPr>
          <a:xfrm>
            <a:off x="4754879" y="2743200"/>
            <a:ext cx="2834640" cy="914400"/>
          </a:xfrm>
          <a:prstGeom prst="rect">
            <a:avLst/>
          </a:prstGeom>
          <a:noFill/>
        </p:spPr>
        <p:txBody>
          <a:bodyPr wrap="square">
            <a:spAutoFit/>
          </a:bodyPr>
          <a:lstStyle/>
          <a:p>
            <a:pPr algn="l">
              <a:defRPr sz="1200" b="0">
                <a:solidFill>
                  <a:srgbClr val="AAAABB"/>
                </a:solidFill>
                <a:latin typeface="Space Grotesk"/>
              </a:defRPr>
            </a:pPr>
            <a:r>
              <a:t>Multi-dimensional filters and real-time search.</a:t>
            </a:r>
          </a:p>
        </p:txBody>
      </p:sp>
      <p:sp>
        <p:nvSpPr>
          <p:cNvPr id="13" name="Rounded Rectangle 12"/>
          <p:cNvSpPr/>
          <p:nvPr/>
        </p:nvSpPr>
        <p:spPr>
          <a:xfrm>
            <a:off x="8229600" y="2011680"/>
            <a:ext cx="3383280" cy="19202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2194560"/>
            <a:ext cx="457200" cy="365760"/>
          </a:xfrm>
          <a:prstGeom prst="rect">
            <a:avLst/>
          </a:prstGeom>
          <a:noFill/>
        </p:spPr>
        <p:txBody>
          <a:bodyPr wrap="square">
            <a:spAutoFit/>
          </a:bodyPr>
          <a:lstStyle/>
          <a:p>
            <a:pPr algn="l">
              <a:defRPr sz="2200" b="0">
                <a:solidFill>
                  <a:srgbClr val="FFFFFF"/>
                </a:solidFill>
                <a:latin typeface="Space Grotesk"/>
              </a:defRPr>
            </a:pPr>
            <a:r>
              <a:t>📄</a:t>
            </a:r>
          </a:p>
        </p:txBody>
      </p:sp>
      <p:sp>
        <p:nvSpPr>
          <p:cNvPr id="15" name="TextBox 14"/>
          <p:cNvSpPr txBox="1"/>
          <p:nvPr/>
        </p:nvSpPr>
        <p:spPr>
          <a:xfrm>
            <a:off x="9052560" y="2194560"/>
            <a:ext cx="2286000" cy="365760"/>
          </a:xfrm>
          <a:prstGeom prst="rect">
            <a:avLst/>
          </a:prstGeom>
          <a:noFill/>
        </p:spPr>
        <p:txBody>
          <a:bodyPr wrap="square">
            <a:spAutoFit/>
          </a:bodyPr>
          <a:lstStyle/>
          <a:p>
            <a:pPr algn="l">
              <a:defRPr sz="1600" b="0">
                <a:solidFill>
                  <a:srgbClr val="FFFFFF"/>
                </a:solidFill>
                <a:latin typeface="Archivo Black"/>
              </a:defRPr>
            </a:pPr>
            <a:r>
              <a:t>Item Details</a:t>
            </a:r>
          </a:p>
        </p:txBody>
      </p:sp>
      <p:sp>
        <p:nvSpPr>
          <p:cNvPr id="16" name="TextBox 15"/>
          <p:cNvSpPr txBox="1"/>
          <p:nvPr/>
        </p:nvSpPr>
        <p:spPr>
          <a:xfrm>
            <a:off x="8503920" y="2743200"/>
            <a:ext cx="2834640" cy="914400"/>
          </a:xfrm>
          <a:prstGeom prst="rect">
            <a:avLst/>
          </a:prstGeom>
          <a:noFill/>
        </p:spPr>
        <p:txBody>
          <a:bodyPr wrap="square">
            <a:spAutoFit/>
          </a:bodyPr>
          <a:lstStyle/>
          <a:p>
            <a:pPr algn="l">
              <a:defRPr sz="1200" b="0">
                <a:solidFill>
                  <a:srgbClr val="AAAABB"/>
                </a:solidFill>
                <a:latin typeface="Space Grotesk"/>
              </a:defRPr>
            </a:pPr>
            <a:r>
              <a:t>Large photos, condition info, location, and giver profile.</a:t>
            </a:r>
          </a:p>
        </p:txBody>
      </p:sp>
      <p:sp>
        <p:nvSpPr>
          <p:cNvPr id="17" name="Rounded Rectangle 16"/>
          <p:cNvSpPr/>
          <p:nvPr/>
        </p:nvSpPr>
        <p:spPr>
          <a:xfrm>
            <a:off x="731520" y="4297680"/>
            <a:ext cx="3383280" cy="19202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480560"/>
            <a:ext cx="457200" cy="365760"/>
          </a:xfrm>
          <a:prstGeom prst="rect">
            <a:avLst/>
          </a:prstGeom>
          <a:noFill/>
        </p:spPr>
        <p:txBody>
          <a:bodyPr wrap="square">
            <a:spAutoFit/>
          </a:bodyPr>
          <a:lstStyle/>
          <a:p>
            <a:pPr algn="l">
              <a:defRPr sz="2200" b="0">
                <a:solidFill>
                  <a:srgbClr val="FFFFFF"/>
                </a:solidFill>
                <a:latin typeface="Space Grotesk"/>
              </a:defRPr>
            </a:pPr>
            <a:r>
              <a:t>📩</a:t>
            </a:r>
          </a:p>
        </p:txBody>
      </p:sp>
      <p:sp>
        <p:nvSpPr>
          <p:cNvPr id="19" name="TextBox 18"/>
          <p:cNvSpPr txBox="1"/>
          <p:nvPr/>
        </p:nvSpPr>
        <p:spPr>
          <a:xfrm>
            <a:off x="1554480" y="4480560"/>
            <a:ext cx="2286000" cy="365760"/>
          </a:xfrm>
          <a:prstGeom prst="rect">
            <a:avLst/>
          </a:prstGeom>
          <a:noFill/>
        </p:spPr>
        <p:txBody>
          <a:bodyPr wrap="square">
            <a:spAutoFit/>
          </a:bodyPr>
          <a:lstStyle/>
          <a:p>
            <a:pPr algn="l">
              <a:defRPr sz="1600" b="0">
                <a:solidFill>
                  <a:srgbClr val="FFFFFF"/>
                </a:solidFill>
                <a:latin typeface="Archivo Black"/>
              </a:defRPr>
            </a:pPr>
            <a:r>
              <a:t>Request System</a:t>
            </a:r>
          </a:p>
        </p:txBody>
      </p:sp>
      <p:sp>
        <p:nvSpPr>
          <p:cNvPr id="20" name="TextBox 19"/>
          <p:cNvSpPr txBox="1"/>
          <p:nvPr/>
        </p:nvSpPr>
        <p:spPr>
          <a:xfrm>
            <a:off x="1005840" y="5029200"/>
            <a:ext cx="2834640" cy="914400"/>
          </a:xfrm>
          <a:prstGeom prst="rect">
            <a:avLst/>
          </a:prstGeom>
          <a:noFill/>
        </p:spPr>
        <p:txBody>
          <a:bodyPr wrap="square">
            <a:spAutoFit/>
          </a:bodyPr>
          <a:lstStyle/>
          <a:p>
            <a:pPr algn="l">
              <a:defRPr sz="1200" b="0">
                <a:solidFill>
                  <a:srgbClr val="AAAABB"/>
                </a:solidFill>
                <a:latin typeface="Space Grotesk"/>
              </a:defRPr>
            </a:pPr>
            <a:r>
              <a:t>Send request → Giver approves → Arrange pickup.</a:t>
            </a:r>
          </a:p>
        </p:txBody>
      </p:sp>
      <p:sp>
        <p:nvSpPr>
          <p:cNvPr id="21" name="Rounded Rectangle 20"/>
          <p:cNvSpPr/>
          <p:nvPr/>
        </p:nvSpPr>
        <p:spPr>
          <a:xfrm>
            <a:off x="4480559" y="4297680"/>
            <a:ext cx="3383280" cy="19202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79" y="4480560"/>
            <a:ext cx="457200" cy="365760"/>
          </a:xfrm>
          <a:prstGeom prst="rect">
            <a:avLst/>
          </a:prstGeom>
          <a:noFill/>
        </p:spPr>
        <p:txBody>
          <a:bodyPr wrap="square">
            <a:spAutoFit/>
          </a:bodyPr>
          <a:lstStyle/>
          <a:p>
            <a:pPr algn="l">
              <a:defRPr sz="2200" b="0">
                <a:solidFill>
                  <a:srgbClr val="FFFFFF"/>
                </a:solidFill>
                <a:latin typeface="Space Grotesk"/>
              </a:defRPr>
            </a:pPr>
            <a:r>
              <a:t>📈</a:t>
            </a:r>
          </a:p>
        </p:txBody>
      </p:sp>
      <p:sp>
        <p:nvSpPr>
          <p:cNvPr id="23" name="TextBox 22"/>
          <p:cNvSpPr txBox="1"/>
          <p:nvPr/>
        </p:nvSpPr>
        <p:spPr>
          <a:xfrm>
            <a:off x="5303520" y="4480560"/>
            <a:ext cx="2286000" cy="365760"/>
          </a:xfrm>
          <a:prstGeom prst="rect">
            <a:avLst/>
          </a:prstGeom>
          <a:noFill/>
        </p:spPr>
        <p:txBody>
          <a:bodyPr wrap="square">
            <a:spAutoFit/>
          </a:bodyPr>
          <a:lstStyle/>
          <a:p>
            <a:pPr algn="l">
              <a:defRPr sz="1600" b="0">
                <a:solidFill>
                  <a:srgbClr val="FFFFFF"/>
                </a:solidFill>
                <a:latin typeface="Archivo Black"/>
              </a:defRPr>
            </a:pPr>
            <a:r>
              <a:t>Impact Dashboard</a:t>
            </a:r>
          </a:p>
        </p:txBody>
      </p:sp>
      <p:sp>
        <p:nvSpPr>
          <p:cNvPr id="24" name="TextBox 23"/>
          <p:cNvSpPr txBox="1"/>
          <p:nvPr/>
        </p:nvSpPr>
        <p:spPr>
          <a:xfrm>
            <a:off x="4754879" y="5029200"/>
            <a:ext cx="2834640" cy="914400"/>
          </a:xfrm>
          <a:prstGeom prst="rect">
            <a:avLst/>
          </a:prstGeom>
          <a:noFill/>
        </p:spPr>
        <p:txBody>
          <a:bodyPr wrap="square">
            <a:spAutoFit/>
          </a:bodyPr>
          <a:lstStyle/>
          <a:p>
            <a:pPr algn="l">
              <a:defRPr sz="1200" b="0">
                <a:solidFill>
                  <a:srgbClr val="AAAABB"/>
                </a:solidFill>
                <a:latin typeface="Space Grotesk"/>
              </a:defRPr>
            </a:pPr>
            <a:r>
              <a:t>Real-time stats on items exchanged, waste reduced, and money saved.</a:t>
            </a:r>
          </a:p>
        </p:txBody>
      </p:sp>
      <p:sp>
        <p:nvSpPr>
          <p:cNvPr id="25" name="Rounded Rectangle 24"/>
          <p:cNvSpPr/>
          <p:nvPr/>
        </p:nvSpPr>
        <p:spPr>
          <a:xfrm>
            <a:off x="8229600" y="4297680"/>
            <a:ext cx="3383280" cy="19202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4480560"/>
            <a:ext cx="457200" cy="365760"/>
          </a:xfrm>
          <a:prstGeom prst="rect">
            <a:avLst/>
          </a:prstGeom>
          <a:noFill/>
        </p:spPr>
        <p:txBody>
          <a:bodyPr wrap="square">
            <a:spAutoFit/>
          </a:bodyPr>
          <a:lstStyle/>
          <a:p>
            <a:pPr algn="l">
              <a:defRPr sz="2200" b="0">
                <a:solidFill>
                  <a:srgbClr val="FFFFFF"/>
                </a:solidFill>
                <a:latin typeface="Space Grotesk"/>
              </a:defRPr>
            </a:pPr>
            <a:r>
              <a:t>📱</a:t>
            </a:r>
          </a:p>
        </p:txBody>
      </p:sp>
      <p:sp>
        <p:nvSpPr>
          <p:cNvPr id="27" name="TextBox 26"/>
          <p:cNvSpPr txBox="1"/>
          <p:nvPr/>
        </p:nvSpPr>
        <p:spPr>
          <a:xfrm>
            <a:off x="9052560" y="4480560"/>
            <a:ext cx="2286000" cy="365760"/>
          </a:xfrm>
          <a:prstGeom prst="rect">
            <a:avLst/>
          </a:prstGeom>
          <a:noFill/>
        </p:spPr>
        <p:txBody>
          <a:bodyPr wrap="square">
            <a:spAutoFit/>
          </a:bodyPr>
          <a:lstStyle/>
          <a:p>
            <a:pPr algn="l">
              <a:defRPr sz="1600" b="0">
                <a:solidFill>
                  <a:srgbClr val="FFFFFF"/>
                </a:solidFill>
                <a:latin typeface="Archivo Black"/>
              </a:defRPr>
            </a:pPr>
            <a:r>
              <a:t>Mobile First</a:t>
            </a:r>
          </a:p>
        </p:txBody>
      </p:sp>
      <p:sp>
        <p:nvSpPr>
          <p:cNvPr id="28" name="TextBox 27"/>
          <p:cNvSpPr txBox="1"/>
          <p:nvPr/>
        </p:nvSpPr>
        <p:spPr>
          <a:xfrm>
            <a:off x="8503920" y="5029200"/>
            <a:ext cx="2834640" cy="914400"/>
          </a:xfrm>
          <a:prstGeom prst="rect">
            <a:avLst/>
          </a:prstGeom>
          <a:noFill/>
        </p:spPr>
        <p:txBody>
          <a:bodyPr wrap="square">
            <a:spAutoFit/>
          </a:bodyPr>
          <a:lstStyle/>
          <a:p>
            <a:pPr algn="l">
              <a:defRPr sz="1200" b="0">
                <a:solidFill>
                  <a:srgbClr val="AAAABB"/>
                </a:solidFill>
                <a:latin typeface="Space Grotesk"/>
              </a:defRPr>
            </a:pPr>
            <a:r>
              <a:t>Responsive design built for students on the 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05</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What You Can Share</a:t>
            </a:r>
          </a:p>
        </p:txBody>
      </p:sp>
      <p:sp>
        <p:nvSpPr>
          <p:cNvPr id="5" name="TextBox 4"/>
          <p:cNvSpPr txBox="1"/>
          <p:nvPr/>
        </p:nvSpPr>
        <p:spPr>
          <a:xfrm>
            <a:off x="731520" y="1828800"/>
            <a:ext cx="7315200" cy="457200"/>
          </a:xfrm>
          <a:prstGeom prst="rect">
            <a:avLst/>
          </a:prstGeom>
          <a:noFill/>
        </p:spPr>
        <p:txBody>
          <a:bodyPr wrap="square">
            <a:spAutoFit/>
          </a:bodyPr>
          <a:lstStyle/>
          <a:p>
            <a:pPr algn="l">
              <a:defRPr sz="1600" b="0">
                <a:solidFill>
                  <a:srgbClr val="AAAABB"/>
                </a:solidFill>
                <a:latin typeface="Space Grotesk"/>
              </a:defRPr>
            </a:pPr>
            <a:r>
              <a:t>Five categories covering every student's essential needs.</a:t>
            </a:r>
          </a:p>
        </p:txBody>
      </p:sp>
      <p:sp>
        <p:nvSpPr>
          <p:cNvPr id="6" name="Rounded Rectangle 5"/>
          <p:cNvSpPr/>
          <p:nvPr/>
        </p:nvSpPr>
        <p:spPr>
          <a:xfrm>
            <a:off x="731520" y="2743200"/>
            <a:ext cx="20116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17520"/>
            <a:ext cx="1645920" cy="640080"/>
          </a:xfrm>
          <a:prstGeom prst="rect">
            <a:avLst/>
          </a:prstGeom>
          <a:noFill/>
        </p:spPr>
        <p:txBody>
          <a:bodyPr wrap="square">
            <a:spAutoFit/>
          </a:bodyPr>
          <a:lstStyle/>
          <a:p>
            <a:pPr algn="ctr">
              <a:defRPr sz="3600" b="0">
                <a:solidFill>
                  <a:srgbClr val="FFFFFF"/>
                </a:solidFill>
                <a:latin typeface="Space Grotesk"/>
              </a:defRPr>
            </a:pPr>
            <a:r>
              <a:t>📚</a:t>
            </a:r>
          </a:p>
        </p:txBody>
      </p:sp>
      <p:sp>
        <p:nvSpPr>
          <p:cNvPr id="8" name="TextBox 7"/>
          <p:cNvSpPr txBox="1"/>
          <p:nvPr/>
        </p:nvSpPr>
        <p:spPr>
          <a:xfrm>
            <a:off x="914400" y="3749039"/>
            <a:ext cx="1645920" cy="457200"/>
          </a:xfrm>
          <a:prstGeom prst="rect">
            <a:avLst/>
          </a:prstGeom>
          <a:noFill/>
        </p:spPr>
        <p:txBody>
          <a:bodyPr wrap="square">
            <a:spAutoFit/>
          </a:bodyPr>
          <a:lstStyle/>
          <a:p>
            <a:pPr algn="ctr">
              <a:defRPr sz="1600" b="0">
                <a:solidFill>
                  <a:srgbClr val="FFFFFF"/>
                </a:solidFill>
                <a:latin typeface="Archivo Black"/>
              </a:defRPr>
            </a:pPr>
            <a:r>
              <a:t>Textbooks</a:t>
            </a:r>
          </a:p>
        </p:txBody>
      </p:sp>
      <p:sp>
        <p:nvSpPr>
          <p:cNvPr id="9" name="TextBox 8"/>
          <p:cNvSpPr txBox="1"/>
          <p:nvPr/>
        </p:nvSpPr>
        <p:spPr>
          <a:xfrm>
            <a:off x="914400" y="4297680"/>
            <a:ext cx="1645920" cy="1097280"/>
          </a:xfrm>
          <a:prstGeom prst="rect">
            <a:avLst/>
          </a:prstGeom>
          <a:noFill/>
        </p:spPr>
        <p:txBody>
          <a:bodyPr wrap="square">
            <a:spAutoFit/>
          </a:bodyPr>
          <a:lstStyle/>
          <a:p>
            <a:pPr algn="ctr">
              <a:defRPr sz="1100" b="0">
                <a:solidFill>
                  <a:srgbClr val="AAAABB"/>
                </a:solidFill>
                <a:latin typeface="Space Grotesk"/>
              </a:defRPr>
            </a:pPr>
            <a:r>
              <a:t>Calculus, Programming, TOEIC &amp; more</a:t>
            </a:r>
          </a:p>
        </p:txBody>
      </p:sp>
      <p:sp>
        <p:nvSpPr>
          <p:cNvPr id="10" name="Rounded Rectangle 9"/>
          <p:cNvSpPr/>
          <p:nvPr/>
        </p:nvSpPr>
        <p:spPr>
          <a:xfrm>
            <a:off x="3017520" y="2743200"/>
            <a:ext cx="20116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3017520"/>
            <a:ext cx="1645920" cy="640080"/>
          </a:xfrm>
          <a:prstGeom prst="rect">
            <a:avLst/>
          </a:prstGeom>
          <a:noFill/>
        </p:spPr>
        <p:txBody>
          <a:bodyPr wrap="square">
            <a:spAutoFit/>
          </a:bodyPr>
          <a:lstStyle/>
          <a:p>
            <a:pPr algn="ctr">
              <a:defRPr sz="3600" b="0">
                <a:solidFill>
                  <a:srgbClr val="FFFFFF"/>
                </a:solidFill>
                <a:latin typeface="Space Grotesk"/>
              </a:defRPr>
            </a:pPr>
            <a:r>
              <a:t>🎓</a:t>
            </a:r>
          </a:p>
        </p:txBody>
      </p:sp>
      <p:sp>
        <p:nvSpPr>
          <p:cNvPr id="12" name="TextBox 11"/>
          <p:cNvSpPr txBox="1"/>
          <p:nvPr/>
        </p:nvSpPr>
        <p:spPr>
          <a:xfrm>
            <a:off x="3200400" y="3749039"/>
            <a:ext cx="1645920" cy="457200"/>
          </a:xfrm>
          <a:prstGeom prst="rect">
            <a:avLst/>
          </a:prstGeom>
          <a:noFill/>
        </p:spPr>
        <p:txBody>
          <a:bodyPr wrap="square">
            <a:spAutoFit/>
          </a:bodyPr>
          <a:lstStyle/>
          <a:p>
            <a:pPr algn="ctr">
              <a:defRPr sz="1600" b="0">
                <a:solidFill>
                  <a:srgbClr val="FFFFFF"/>
                </a:solidFill>
                <a:latin typeface="Archivo Black"/>
              </a:defRPr>
            </a:pPr>
            <a:r>
              <a:t>Study Supplies</a:t>
            </a:r>
          </a:p>
        </p:txBody>
      </p:sp>
      <p:sp>
        <p:nvSpPr>
          <p:cNvPr id="13" name="TextBox 12"/>
          <p:cNvSpPr txBox="1"/>
          <p:nvPr/>
        </p:nvSpPr>
        <p:spPr>
          <a:xfrm>
            <a:off x="3200400" y="4297680"/>
            <a:ext cx="1645920" cy="1097280"/>
          </a:xfrm>
          <a:prstGeom prst="rect">
            <a:avLst/>
          </a:prstGeom>
          <a:noFill/>
        </p:spPr>
        <p:txBody>
          <a:bodyPr wrap="square">
            <a:spAutoFit/>
          </a:bodyPr>
          <a:lstStyle/>
          <a:p>
            <a:pPr algn="ctr">
              <a:defRPr sz="1100" b="0">
                <a:solidFill>
                  <a:srgbClr val="AAAABB"/>
                </a:solidFill>
                <a:latin typeface="Space Grotesk"/>
              </a:defRPr>
            </a:pPr>
            <a:r>
              <a:t>Bags, mice, mechanical keyboards</a:t>
            </a:r>
          </a:p>
        </p:txBody>
      </p:sp>
      <p:sp>
        <p:nvSpPr>
          <p:cNvPr id="14" name="Rounded Rectangle 13"/>
          <p:cNvSpPr/>
          <p:nvPr/>
        </p:nvSpPr>
        <p:spPr>
          <a:xfrm>
            <a:off x="5303520" y="2743200"/>
            <a:ext cx="20116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3017520"/>
            <a:ext cx="1645920" cy="640080"/>
          </a:xfrm>
          <a:prstGeom prst="rect">
            <a:avLst/>
          </a:prstGeom>
          <a:noFill/>
        </p:spPr>
        <p:txBody>
          <a:bodyPr wrap="square">
            <a:spAutoFit/>
          </a:bodyPr>
          <a:lstStyle/>
          <a:p>
            <a:pPr algn="ctr">
              <a:defRPr sz="3600" b="0">
                <a:solidFill>
                  <a:srgbClr val="FFFFFF"/>
                </a:solidFill>
                <a:latin typeface="Space Grotesk"/>
              </a:defRPr>
            </a:pPr>
            <a:r>
              <a:t>🏠</a:t>
            </a:r>
          </a:p>
        </p:txBody>
      </p:sp>
      <p:sp>
        <p:nvSpPr>
          <p:cNvPr id="16" name="TextBox 15"/>
          <p:cNvSpPr txBox="1"/>
          <p:nvPr/>
        </p:nvSpPr>
        <p:spPr>
          <a:xfrm>
            <a:off x="5486400" y="3749039"/>
            <a:ext cx="1645920" cy="457200"/>
          </a:xfrm>
          <a:prstGeom prst="rect">
            <a:avLst/>
          </a:prstGeom>
          <a:noFill/>
        </p:spPr>
        <p:txBody>
          <a:bodyPr wrap="square">
            <a:spAutoFit/>
          </a:bodyPr>
          <a:lstStyle/>
          <a:p>
            <a:pPr algn="ctr">
              <a:defRPr sz="1600" b="0">
                <a:solidFill>
                  <a:srgbClr val="FFFFFF"/>
                </a:solidFill>
                <a:latin typeface="Archivo Black"/>
              </a:defRPr>
            </a:pPr>
            <a:r>
              <a:t>Dorm Items</a:t>
            </a:r>
          </a:p>
        </p:txBody>
      </p:sp>
      <p:sp>
        <p:nvSpPr>
          <p:cNvPr id="17" name="TextBox 16"/>
          <p:cNvSpPr txBox="1"/>
          <p:nvPr/>
        </p:nvSpPr>
        <p:spPr>
          <a:xfrm>
            <a:off x="5486400" y="4297680"/>
            <a:ext cx="1645920" cy="1097280"/>
          </a:xfrm>
          <a:prstGeom prst="rect">
            <a:avLst/>
          </a:prstGeom>
          <a:noFill/>
        </p:spPr>
        <p:txBody>
          <a:bodyPr wrap="square">
            <a:spAutoFit/>
          </a:bodyPr>
          <a:lstStyle/>
          <a:p>
            <a:pPr algn="ctr">
              <a:defRPr sz="1100" b="0">
                <a:solidFill>
                  <a:srgbClr val="AAAABB"/>
                </a:solidFill>
                <a:latin typeface="Space Grotesk"/>
              </a:defRPr>
            </a:pPr>
            <a:r>
              <a:t>Rice cookers, fans, desk lamps</a:t>
            </a:r>
          </a:p>
        </p:txBody>
      </p:sp>
      <p:sp>
        <p:nvSpPr>
          <p:cNvPr id="18" name="Rounded Rectangle 17"/>
          <p:cNvSpPr/>
          <p:nvPr/>
        </p:nvSpPr>
        <p:spPr>
          <a:xfrm>
            <a:off x="7589520" y="2743200"/>
            <a:ext cx="20116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3017520"/>
            <a:ext cx="1645920" cy="640080"/>
          </a:xfrm>
          <a:prstGeom prst="rect">
            <a:avLst/>
          </a:prstGeom>
          <a:noFill/>
        </p:spPr>
        <p:txBody>
          <a:bodyPr wrap="square">
            <a:spAutoFit/>
          </a:bodyPr>
          <a:lstStyle/>
          <a:p>
            <a:pPr algn="ctr">
              <a:defRPr sz="3600" b="0">
                <a:solidFill>
                  <a:srgbClr val="FFFFFF"/>
                </a:solidFill>
                <a:latin typeface="Space Grotesk"/>
              </a:defRPr>
            </a:pPr>
            <a:r>
              <a:t>🍜</a:t>
            </a:r>
          </a:p>
        </p:txBody>
      </p:sp>
      <p:sp>
        <p:nvSpPr>
          <p:cNvPr id="20" name="TextBox 19"/>
          <p:cNvSpPr txBox="1"/>
          <p:nvPr/>
        </p:nvSpPr>
        <p:spPr>
          <a:xfrm>
            <a:off x="7772400" y="3749039"/>
            <a:ext cx="1645920" cy="457200"/>
          </a:xfrm>
          <a:prstGeom prst="rect">
            <a:avLst/>
          </a:prstGeom>
          <a:noFill/>
        </p:spPr>
        <p:txBody>
          <a:bodyPr wrap="square">
            <a:spAutoFit/>
          </a:bodyPr>
          <a:lstStyle/>
          <a:p>
            <a:pPr algn="ctr">
              <a:defRPr sz="1600" b="0">
                <a:solidFill>
                  <a:srgbClr val="FFFFFF"/>
                </a:solidFill>
                <a:latin typeface="Archivo Black"/>
              </a:defRPr>
            </a:pPr>
            <a:r>
              <a:t>Meals &amp; Vouchers</a:t>
            </a:r>
          </a:p>
        </p:txBody>
      </p:sp>
      <p:sp>
        <p:nvSpPr>
          <p:cNvPr id="21" name="TextBox 20"/>
          <p:cNvSpPr txBox="1"/>
          <p:nvPr/>
        </p:nvSpPr>
        <p:spPr>
          <a:xfrm>
            <a:off x="7772400" y="4297680"/>
            <a:ext cx="1645920" cy="1097280"/>
          </a:xfrm>
          <a:prstGeom prst="rect">
            <a:avLst/>
          </a:prstGeom>
          <a:noFill/>
        </p:spPr>
        <p:txBody>
          <a:bodyPr wrap="square">
            <a:spAutoFit/>
          </a:bodyPr>
          <a:lstStyle/>
          <a:p>
            <a:pPr algn="ctr">
              <a:defRPr sz="1100" b="0">
                <a:solidFill>
                  <a:srgbClr val="AAAABB"/>
                </a:solidFill>
                <a:latin typeface="Space Grotesk"/>
              </a:defRPr>
            </a:pPr>
            <a:r>
              <a:t>Meal coupons, coffee vouchers</a:t>
            </a:r>
          </a:p>
        </p:txBody>
      </p:sp>
      <p:sp>
        <p:nvSpPr>
          <p:cNvPr id="22" name="Rounded Rectangle 21"/>
          <p:cNvSpPr/>
          <p:nvPr/>
        </p:nvSpPr>
        <p:spPr>
          <a:xfrm>
            <a:off x="9875520" y="2743200"/>
            <a:ext cx="2011680" cy="32004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0" y="3017520"/>
            <a:ext cx="1645920" cy="640080"/>
          </a:xfrm>
          <a:prstGeom prst="rect">
            <a:avLst/>
          </a:prstGeom>
          <a:noFill/>
        </p:spPr>
        <p:txBody>
          <a:bodyPr wrap="square">
            <a:spAutoFit/>
          </a:bodyPr>
          <a:lstStyle/>
          <a:p>
            <a:pPr algn="ctr">
              <a:defRPr sz="3600" b="0">
                <a:solidFill>
                  <a:srgbClr val="FFFFFF"/>
                </a:solidFill>
                <a:latin typeface="Space Grotesk"/>
              </a:defRPr>
            </a:pPr>
            <a:r>
              <a:t>📋</a:t>
            </a:r>
          </a:p>
        </p:txBody>
      </p:sp>
      <p:sp>
        <p:nvSpPr>
          <p:cNvPr id="24" name="TextBox 23"/>
          <p:cNvSpPr txBox="1"/>
          <p:nvPr/>
        </p:nvSpPr>
        <p:spPr>
          <a:xfrm>
            <a:off x="10058400" y="3749039"/>
            <a:ext cx="1645920" cy="457200"/>
          </a:xfrm>
          <a:prstGeom prst="rect">
            <a:avLst/>
          </a:prstGeom>
          <a:noFill/>
        </p:spPr>
        <p:txBody>
          <a:bodyPr wrap="square">
            <a:spAutoFit/>
          </a:bodyPr>
          <a:lstStyle/>
          <a:p>
            <a:pPr algn="ctr">
              <a:defRPr sz="1600" b="0">
                <a:solidFill>
                  <a:srgbClr val="FFFFFF"/>
                </a:solidFill>
                <a:latin typeface="Archivo Black"/>
              </a:defRPr>
            </a:pPr>
            <a:r>
              <a:t>Documents</a:t>
            </a:r>
          </a:p>
        </p:txBody>
      </p:sp>
      <p:sp>
        <p:nvSpPr>
          <p:cNvPr id="25" name="TextBox 24"/>
          <p:cNvSpPr txBox="1"/>
          <p:nvPr/>
        </p:nvSpPr>
        <p:spPr>
          <a:xfrm>
            <a:off x="10058400" y="4297680"/>
            <a:ext cx="1645920" cy="1097280"/>
          </a:xfrm>
          <a:prstGeom prst="rect">
            <a:avLst/>
          </a:prstGeom>
          <a:noFill/>
        </p:spPr>
        <p:txBody>
          <a:bodyPr wrap="square">
            <a:spAutoFit/>
          </a:bodyPr>
          <a:lstStyle/>
          <a:p>
            <a:pPr algn="ctr">
              <a:defRPr sz="1100" b="0">
                <a:solidFill>
                  <a:srgbClr val="AAAABB"/>
                </a:solidFill>
                <a:latin typeface="Space Grotesk"/>
              </a:defRPr>
            </a:pPr>
            <a:r>
              <a:t>Lecture slides, exams, study guides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06</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Track Record</a:t>
            </a:r>
          </a:p>
        </p:txBody>
      </p:sp>
      <p:sp>
        <p:nvSpPr>
          <p:cNvPr id="5" name="TextBox 4"/>
          <p:cNvSpPr txBox="1"/>
          <p:nvPr/>
        </p:nvSpPr>
        <p:spPr>
          <a:xfrm>
            <a:off x="731520" y="1828800"/>
            <a:ext cx="7315200" cy="457200"/>
          </a:xfrm>
          <a:prstGeom prst="rect">
            <a:avLst/>
          </a:prstGeom>
          <a:noFill/>
        </p:spPr>
        <p:txBody>
          <a:bodyPr wrap="square">
            <a:spAutoFit/>
          </a:bodyPr>
          <a:lstStyle/>
          <a:p>
            <a:pPr algn="l">
              <a:defRPr sz="1600" b="0">
                <a:solidFill>
                  <a:srgbClr val="AAAABB"/>
                </a:solidFill>
                <a:latin typeface="Space Grotesk"/>
              </a:defRPr>
            </a:pPr>
            <a:r>
              <a:t>Every exchange makes a difference. Here's what the community tracks.</a:t>
            </a:r>
          </a:p>
        </p:txBody>
      </p:sp>
      <p:sp>
        <p:nvSpPr>
          <p:cNvPr id="6" name="Rounded Rectangle 5"/>
          <p:cNvSpPr/>
          <p:nvPr/>
        </p:nvSpPr>
        <p:spPr>
          <a:xfrm>
            <a:off x="731520" y="2926080"/>
            <a:ext cx="2560320" cy="27432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91840"/>
            <a:ext cx="2194560" cy="822960"/>
          </a:xfrm>
          <a:prstGeom prst="rect">
            <a:avLst/>
          </a:prstGeom>
          <a:noFill/>
        </p:spPr>
        <p:txBody>
          <a:bodyPr wrap="square">
            <a:spAutoFit/>
          </a:bodyPr>
          <a:lstStyle/>
          <a:p>
            <a:pPr algn="ctr">
              <a:defRPr sz="4000" b="1">
                <a:solidFill>
                  <a:srgbClr val="FF5E35"/>
                </a:solidFill>
                <a:latin typeface="Archivo Black"/>
              </a:defRPr>
            </a:pPr>
            <a:r>
              <a:t>250+</a:t>
            </a:r>
          </a:p>
        </p:txBody>
      </p:sp>
      <p:sp>
        <p:nvSpPr>
          <p:cNvPr id="8" name="TextBox 7"/>
          <p:cNvSpPr txBox="1"/>
          <p:nvPr/>
        </p:nvSpPr>
        <p:spPr>
          <a:xfrm>
            <a:off x="914400" y="4297680"/>
            <a:ext cx="2194560" cy="548640"/>
          </a:xfrm>
          <a:prstGeom prst="rect">
            <a:avLst/>
          </a:prstGeom>
          <a:noFill/>
        </p:spPr>
        <p:txBody>
          <a:bodyPr wrap="square">
            <a:spAutoFit/>
          </a:bodyPr>
          <a:lstStyle/>
          <a:p>
            <a:pPr algn="ctr">
              <a:defRPr sz="1400" b="0">
                <a:solidFill>
                  <a:srgbClr val="AAAABB"/>
                </a:solidFill>
                <a:latin typeface="Space Grotesk"/>
              </a:defRPr>
            </a:pPr>
            <a:r>
              <a:t>Items Exchanged</a:t>
            </a:r>
          </a:p>
        </p:txBody>
      </p:sp>
      <p:sp>
        <p:nvSpPr>
          <p:cNvPr id="9" name="Rounded Rectangle 8"/>
          <p:cNvSpPr/>
          <p:nvPr/>
        </p:nvSpPr>
        <p:spPr>
          <a:xfrm>
            <a:off x="3611880" y="2926080"/>
            <a:ext cx="2560320" cy="27432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94760" y="3291840"/>
            <a:ext cx="2194560" cy="822960"/>
          </a:xfrm>
          <a:prstGeom prst="rect">
            <a:avLst/>
          </a:prstGeom>
          <a:noFill/>
        </p:spPr>
        <p:txBody>
          <a:bodyPr wrap="square">
            <a:spAutoFit/>
          </a:bodyPr>
          <a:lstStyle/>
          <a:p>
            <a:pPr algn="ctr">
              <a:defRPr sz="4000" b="1">
                <a:solidFill>
                  <a:srgbClr val="FF5E35"/>
                </a:solidFill>
                <a:latin typeface="Archivo Black"/>
              </a:defRPr>
            </a:pPr>
            <a:r>
              <a:t>2.5T</a:t>
            </a:r>
          </a:p>
        </p:txBody>
      </p:sp>
      <p:sp>
        <p:nvSpPr>
          <p:cNvPr id="11" name="TextBox 10"/>
          <p:cNvSpPr txBox="1"/>
          <p:nvPr/>
        </p:nvSpPr>
        <p:spPr>
          <a:xfrm>
            <a:off x="3794760" y="4297680"/>
            <a:ext cx="2194560" cy="548640"/>
          </a:xfrm>
          <a:prstGeom prst="rect">
            <a:avLst/>
          </a:prstGeom>
          <a:noFill/>
        </p:spPr>
        <p:txBody>
          <a:bodyPr wrap="square">
            <a:spAutoFit/>
          </a:bodyPr>
          <a:lstStyle/>
          <a:p>
            <a:pPr algn="ctr">
              <a:defRPr sz="1400" b="0">
                <a:solidFill>
                  <a:srgbClr val="AAAABB"/>
                </a:solidFill>
                <a:latin typeface="Space Grotesk"/>
              </a:defRPr>
            </a:pPr>
            <a:r>
              <a:t>Waste Reduced (kg)</a:t>
            </a:r>
          </a:p>
        </p:txBody>
      </p:sp>
      <p:sp>
        <p:nvSpPr>
          <p:cNvPr id="12" name="Rounded Rectangle 11"/>
          <p:cNvSpPr/>
          <p:nvPr/>
        </p:nvSpPr>
        <p:spPr>
          <a:xfrm>
            <a:off x="6492240" y="2926080"/>
            <a:ext cx="2560320" cy="27432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3291840"/>
            <a:ext cx="2194560" cy="822960"/>
          </a:xfrm>
          <a:prstGeom prst="rect">
            <a:avLst/>
          </a:prstGeom>
          <a:noFill/>
        </p:spPr>
        <p:txBody>
          <a:bodyPr wrap="square">
            <a:spAutoFit/>
          </a:bodyPr>
          <a:lstStyle/>
          <a:p>
            <a:pPr algn="ctr">
              <a:defRPr sz="4000" b="1">
                <a:solidFill>
                  <a:srgbClr val="FF5E35"/>
                </a:solidFill>
                <a:latin typeface="Archivo Black"/>
              </a:defRPr>
            </a:pPr>
            <a:r>
              <a:t>50M+</a:t>
            </a:r>
          </a:p>
        </p:txBody>
      </p:sp>
      <p:sp>
        <p:nvSpPr>
          <p:cNvPr id="14" name="TextBox 13"/>
          <p:cNvSpPr txBox="1"/>
          <p:nvPr/>
        </p:nvSpPr>
        <p:spPr>
          <a:xfrm>
            <a:off x="6675120" y="4297680"/>
            <a:ext cx="2194560" cy="548640"/>
          </a:xfrm>
          <a:prstGeom prst="rect">
            <a:avLst/>
          </a:prstGeom>
          <a:noFill/>
        </p:spPr>
        <p:txBody>
          <a:bodyPr wrap="square">
            <a:spAutoFit/>
          </a:bodyPr>
          <a:lstStyle/>
          <a:p>
            <a:pPr algn="ctr">
              <a:defRPr sz="1400" b="0">
                <a:solidFill>
                  <a:srgbClr val="AAAABB"/>
                </a:solidFill>
                <a:latin typeface="Space Grotesk"/>
              </a:defRPr>
            </a:pPr>
            <a:r>
              <a:t>VND Saved</a:t>
            </a:r>
          </a:p>
        </p:txBody>
      </p:sp>
      <p:sp>
        <p:nvSpPr>
          <p:cNvPr id="15" name="Rounded Rectangle 14"/>
          <p:cNvSpPr/>
          <p:nvPr/>
        </p:nvSpPr>
        <p:spPr>
          <a:xfrm>
            <a:off x="9372600" y="2926080"/>
            <a:ext cx="2560320" cy="274320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55480" y="3291840"/>
            <a:ext cx="2194560" cy="822960"/>
          </a:xfrm>
          <a:prstGeom prst="rect">
            <a:avLst/>
          </a:prstGeom>
          <a:noFill/>
        </p:spPr>
        <p:txBody>
          <a:bodyPr wrap="square">
            <a:spAutoFit/>
          </a:bodyPr>
          <a:lstStyle/>
          <a:p>
            <a:pPr algn="ctr">
              <a:defRPr sz="4000" b="1">
                <a:solidFill>
                  <a:srgbClr val="FF5E35"/>
                </a:solidFill>
                <a:latin typeface="Archivo Black"/>
              </a:defRPr>
            </a:pPr>
            <a:r>
              <a:t>500+</a:t>
            </a:r>
          </a:p>
        </p:txBody>
      </p:sp>
      <p:sp>
        <p:nvSpPr>
          <p:cNvPr id="17" name="TextBox 16"/>
          <p:cNvSpPr txBox="1"/>
          <p:nvPr/>
        </p:nvSpPr>
        <p:spPr>
          <a:xfrm>
            <a:off x="9555480" y="4297680"/>
            <a:ext cx="2194560" cy="548640"/>
          </a:xfrm>
          <a:prstGeom prst="rect">
            <a:avLst/>
          </a:prstGeom>
          <a:noFill/>
        </p:spPr>
        <p:txBody>
          <a:bodyPr wrap="square">
            <a:spAutoFit/>
          </a:bodyPr>
          <a:lstStyle/>
          <a:p>
            <a:pPr algn="ctr">
              <a:defRPr sz="1400" b="0">
                <a:solidFill>
                  <a:srgbClr val="AAAABB"/>
                </a:solidFill>
                <a:latin typeface="Space Grotesk"/>
              </a:defRPr>
            </a:pPr>
            <a:r>
              <a:t>Students Reached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07</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Built With</a:t>
            </a:r>
          </a:p>
        </p:txBody>
      </p:sp>
      <p:sp>
        <p:nvSpPr>
          <p:cNvPr id="5" name="TextBox 4"/>
          <p:cNvSpPr txBox="1"/>
          <p:nvPr/>
        </p:nvSpPr>
        <p:spPr>
          <a:xfrm>
            <a:off x="731520" y="1828800"/>
            <a:ext cx="7315200" cy="457200"/>
          </a:xfrm>
          <a:prstGeom prst="rect">
            <a:avLst/>
          </a:prstGeom>
          <a:noFill/>
        </p:spPr>
        <p:txBody>
          <a:bodyPr wrap="square">
            <a:spAutoFit/>
          </a:bodyPr>
          <a:lstStyle/>
          <a:p>
            <a:pPr algn="l">
              <a:defRPr sz="1600" b="0">
                <a:solidFill>
                  <a:srgbClr val="AAAABB"/>
                </a:solidFill>
                <a:latin typeface="Space Grotesk"/>
              </a:defRPr>
            </a:pPr>
            <a:r>
              <a:t>Modern stack for a modern platform.</a:t>
            </a:r>
          </a:p>
        </p:txBody>
      </p:sp>
      <p:sp>
        <p:nvSpPr>
          <p:cNvPr id="6" name="Rounded Rectangle 5"/>
          <p:cNvSpPr/>
          <p:nvPr/>
        </p:nvSpPr>
        <p:spPr>
          <a:xfrm>
            <a:off x="731520" y="2560320"/>
            <a:ext cx="3383280" cy="164592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39"/>
            <a:ext cx="2834640" cy="457200"/>
          </a:xfrm>
          <a:prstGeom prst="rect">
            <a:avLst/>
          </a:prstGeom>
          <a:noFill/>
        </p:spPr>
        <p:txBody>
          <a:bodyPr wrap="square">
            <a:spAutoFit/>
          </a:bodyPr>
          <a:lstStyle/>
          <a:p>
            <a:pPr algn="ctr">
              <a:defRPr sz="1800" b="0">
                <a:solidFill>
                  <a:srgbClr val="FFFFFF"/>
                </a:solidFill>
                <a:latin typeface="Archivo Black"/>
              </a:defRPr>
            </a:pPr>
            <a:r>
              <a:t>Next.js 16</a:t>
            </a:r>
          </a:p>
        </p:txBody>
      </p:sp>
      <p:sp>
        <p:nvSpPr>
          <p:cNvPr id="8" name="TextBox 7"/>
          <p:cNvSpPr txBox="1"/>
          <p:nvPr/>
        </p:nvSpPr>
        <p:spPr>
          <a:xfrm>
            <a:off x="1005840" y="3383279"/>
            <a:ext cx="2834640" cy="457200"/>
          </a:xfrm>
          <a:prstGeom prst="rect">
            <a:avLst/>
          </a:prstGeom>
          <a:noFill/>
        </p:spPr>
        <p:txBody>
          <a:bodyPr wrap="square">
            <a:spAutoFit/>
          </a:bodyPr>
          <a:lstStyle/>
          <a:p>
            <a:pPr algn="ctr">
              <a:defRPr sz="1200" b="0">
                <a:solidFill>
                  <a:srgbClr val="AAAABB"/>
                </a:solidFill>
                <a:latin typeface="Space Grotesk"/>
              </a:defRPr>
            </a:pPr>
            <a:r>
              <a:t>React framework &amp; App Router</a:t>
            </a:r>
          </a:p>
        </p:txBody>
      </p:sp>
      <p:sp>
        <p:nvSpPr>
          <p:cNvPr id="9" name="Rounded Rectangle 8"/>
          <p:cNvSpPr/>
          <p:nvPr/>
        </p:nvSpPr>
        <p:spPr>
          <a:xfrm>
            <a:off x="4480559" y="2560320"/>
            <a:ext cx="3383280" cy="164592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79" y="2834639"/>
            <a:ext cx="2834640" cy="457200"/>
          </a:xfrm>
          <a:prstGeom prst="rect">
            <a:avLst/>
          </a:prstGeom>
          <a:noFill/>
        </p:spPr>
        <p:txBody>
          <a:bodyPr wrap="square">
            <a:spAutoFit/>
          </a:bodyPr>
          <a:lstStyle/>
          <a:p>
            <a:pPr algn="ctr">
              <a:defRPr sz="1800" b="0">
                <a:solidFill>
                  <a:srgbClr val="FFFFFF"/>
                </a:solidFill>
                <a:latin typeface="Archivo Black"/>
              </a:defRPr>
            </a:pPr>
            <a:r>
              <a:t>TypeScript 5</a:t>
            </a:r>
          </a:p>
        </p:txBody>
      </p:sp>
      <p:sp>
        <p:nvSpPr>
          <p:cNvPr id="11" name="TextBox 10"/>
          <p:cNvSpPr txBox="1"/>
          <p:nvPr/>
        </p:nvSpPr>
        <p:spPr>
          <a:xfrm>
            <a:off x="4754879" y="3383279"/>
            <a:ext cx="2834640" cy="457200"/>
          </a:xfrm>
          <a:prstGeom prst="rect">
            <a:avLst/>
          </a:prstGeom>
          <a:noFill/>
        </p:spPr>
        <p:txBody>
          <a:bodyPr wrap="square">
            <a:spAutoFit/>
          </a:bodyPr>
          <a:lstStyle/>
          <a:p>
            <a:pPr algn="ctr">
              <a:defRPr sz="1200" b="0">
                <a:solidFill>
                  <a:srgbClr val="AAAABB"/>
                </a:solidFill>
                <a:latin typeface="Space Grotesk"/>
              </a:defRPr>
            </a:pPr>
            <a:r>
              <a:t>Type safety &amp; code quality</a:t>
            </a:r>
          </a:p>
        </p:txBody>
      </p:sp>
      <p:sp>
        <p:nvSpPr>
          <p:cNvPr id="12" name="Rounded Rectangle 11"/>
          <p:cNvSpPr/>
          <p:nvPr/>
        </p:nvSpPr>
        <p:spPr>
          <a:xfrm>
            <a:off x="8229600" y="2560320"/>
            <a:ext cx="3383280" cy="164592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834639"/>
            <a:ext cx="2834640" cy="457200"/>
          </a:xfrm>
          <a:prstGeom prst="rect">
            <a:avLst/>
          </a:prstGeom>
          <a:noFill/>
        </p:spPr>
        <p:txBody>
          <a:bodyPr wrap="square">
            <a:spAutoFit/>
          </a:bodyPr>
          <a:lstStyle/>
          <a:p>
            <a:pPr algn="ctr">
              <a:defRPr sz="1800" b="0">
                <a:solidFill>
                  <a:srgbClr val="FFFFFF"/>
                </a:solidFill>
                <a:latin typeface="Archivo Black"/>
              </a:defRPr>
            </a:pPr>
            <a:r>
              <a:t>Tailwind CSS 4</a:t>
            </a:r>
          </a:p>
        </p:txBody>
      </p:sp>
      <p:sp>
        <p:nvSpPr>
          <p:cNvPr id="14" name="TextBox 13"/>
          <p:cNvSpPr txBox="1"/>
          <p:nvPr/>
        </p:nvSpPr>
        <p:spPr>
          <a:xfrm>
            <a:off x="8503920" y="3383279"/>
            <a:ext cx="2834640" cy="457200"/>
          </a:xfrm>
          <a:prstGeom prst="rect">
            <a:avLst/>
          </a:prstGeom>
          <a:noFill/>
        </p:spPr>
        <p:txBody>
          <a:bodyPr wrap="square">
            <a:spAutoFit/>
          </a:bodyPr>
          <a:lstStyle/>
          <a:p>
            <a:pPr algn="ctr">
              <a:defRPr sz="1200" b="0">
                <a:solidFill>
                  <a:srgbClr val="AAAABB"/>
                </a:solidFill>
                <a:latin typeface="Space Grotesk"/>
              </a:defRPr>
            </a:pPr>
            <a:r>
              <a:t>Utility-first styling</a:t>
            </a:r>
          </a:p>
        </p:txBody>
      </p:sp>
      <p:sp>
        <p:nvSpPr>
          <p:cNvPr id="15" name="Rounded Rectangle 14"/>
          <p:cNvSpPr/>
          <p:nvPr/>
        </p:nvSpPr>
        <p:spPr>
          <a:xfrm>
            <a:off x="731520" y="4572000"/>
            <a:ext cx="3383280" cy="164592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846320"/>
            <a:ext cx="2834640" cy="457200"/>
          </a:xfrm>
          <a:prstGeom prst="rect">
            <a:avLst/>
          </a:prstGeom>
          <a:noFill/>
        </p:spPr>
        <p:txBody>
          <a:bodyPr wrap="square">
            <a:spAutoFit/>
          </a:bodyPr>
          <a:lstStyle/>
          <a:p>
            <a:pPr algn="ctr">
              <a:defRPr sz="1800" b="0">
                <a:solidFill>
                  <a:srgbClr val="FFFFFF"/>
                </a:solidFill>
                <a:latin typeface="Archivo Black"/>
              </a:defRPr>
            </a:pPr>
            <a:r>
              <a:t>Framer Motion</a:t>
            </a:r>
          </a:p>
        </p:txBody>
      </p:sp>
      <p:sp>
        <p:nvSpPr>
          <p:cNvPr id="17" name="TextBox 16"/>
          <p:cNvSpPr txBox="1"/>
          <p:nvPr/>
        </p:nvSpPr>
        <p:spPr>
          <a:xfrm>
            <a:off x="1005840" y="5394960"/>
            <a:ext cx="2834640" cy="457200"/>
          </a:xfrm>
          <a:prstGeom prst="rect">
            <a:avLst/>
          </a:prstGeom>
          <a:noFill/>
        </p:spPr>
        <p:txBody>
          <a:bodyPr wrap="square">
            <a:spAutoFit/>
          </a:bodyPr>
          <a:lstStyle/>
          <a:p>
            <a:pPr algn="ctr">
              <a:defRPr sz="1200" b="0">
                <a:solidFill>
                  <a:srgbClr val="AAAABB"/>
                </a:solidFill>
                <a:latin typeface="Space Grotesk"/>
              </a:defRPr>
            </a:pPr>
            <a:r>
              <a:t>Animations &amp; interactions</a:t>
            </a:r>
          </a:p>
        </p:txBody>
      </p:sp>
      <p:sp>
        <p:nvSpPr>
          <p:cNvPr id="18" name="Rounded Rectangle 17"/>
          <p:cNvSpPr/>
          <p:nvPr/>
        </p:nvSpPr>
        <p:spPr>
          <a:xfrm>
            <a:off x="4480559" y="4572000"/>
            <a:ext cx="3383280" cy="164592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79" y="4846320"/>
            <a:ext cx="2834640" cy="457200"/>
          </a:xfrm>
          <a:prstGeom prst="rect">
            <a:avLst/>
          </a:prstGeom>
          <a:noFill/>
        </p:spPr>
        <p:txBody>
          <a:bodyPr wrap="square">
            <a:spAutoFit/>
          </a:bodyPr>
          <a:lstStyle/>
          <a:p>
            <a:pPr algn="ctr">
              <a:defRPr sz="1800" b="0">
                <a:solidFill>
                  <a:srgbClr val="FFFFFF"/>
                </a:solidFill>
                <a:latin typeface="Archivo Black"/>
              </a:defRPr>
            </a:pPr>
            <a:r>
              <a:t>Zustand 5</a:t>
            </a:r>
          </a:p>
        </p:txBody>
      </p:sp>
      <p:sp>
        <p:nvSpPr>
          <p:cNvPr id="20" name="TextBox 19"/>
          <p:cNvSpPr txBox="1"/>
          <p:nvPr/>
        </p:nvSpPr>
        <p:spPr>
          <a:xfrm>
            <a:off x="4754879" y="5394960"/>
            <a:ext cx="2834640" cy="457200"/>
          </a:xfrm>
          <a:prstGeom prst="rect">
            <a:avLst/>
          </a:prstGeom>
          <a:noFill/>
        </p:spPr>
        <p:txBody>
          <a:bodyPr wrap="square">
            <a:spAutoFit/>
          </a:bodyPr>
          <a:lstStyle/>
          <a:p>
            <a:pPr algn="ctr">
              <a:defRPr sz="1200" b="0">
                <a:solidFill>
                  <a:srgbClr val="AAAABB"/>
                </a:solidFill>
                <a:latin typeface="Space Grotesk"/>
              </a:defRPr>
            </a:pPr>
            <a:r>
              <a:t>State management</a:t>
            </a:r>
          </a:p>
        </p:txBody>
      </p:sp>
      <p:sp>
        <p:nvSpPr>
          <p:cNvPr id="21" name="Rounded Rectangle 20"/>
          <p:cNvSpPr/>
          <p:nvPr/>
        </p:nvSpPr>
        <p:spPr>
          <a:xfrm>
            <a:off x="8229600" y="4572000"/>
            <a:ext cx="3383280" cy="164592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4846320"/>
            <a:ext cx="2834640" cy="457200"/>
          </a:xfrm>
          <a:prstGeom prst="rect">
            <a:avLst/>
          </a:prstGeom>
          <a:noFill/>
        </p:spPr>
        <p:txBody>
          <a:bodyPr wrap="square">
            <a:spAutoFit/>
          </a:bodyPr>
          <a:lstStyle/>
          <a:p>
            <a:pPr algn="ctr">
              <a:defRPr sz="1800" b="0">
                <a:solidFill>
                  <a:srgbClr val="FFFFFF"/>
                </a:solidFill>
                <a:latin typeface="Archivo Black"/>
              </a:defRPr>
            </a:pPr>
            <a:r>
              <a:t>Supabase</a:t>
            </a:r>
          </a:p>
        </p:txBody>
      </p:sp>
      <p:sp>
        <p:nvSpPr>
          <p:cNvPr id="23" name="TextBox 22"/>
          <p:cNvSpPr txBox="1"/>
          <p:nvPr/>
        </p:nvSpPr>
        <p:spPr>
          <a:xfrm>
            <a:off x="8503920" y="5394960"/>
            <a:ext cx="2834640" cy="457200"/>
          </a:xfrm>
          <a:prstGeom prst="rect">
            <a:avLst/>
          </a:prstGeom>
          <a:noFill/>
        </p:spPr>
        <p:txBody>
          <a:bodyPr wrap="square">
            <a:spAutoFit/>
          </a:bodyPr>
          <a:lstStyle/>
          <a:p>
            <a:pPr algn="ctr">
              <a:defRPr sz="1200" b="0">
                <a:solidFill>
                  <a:srgbClr val="AAAABB"/>
                </a:solidFill>
                <a:latin typeface="Space Grotesk"/>
              </a:defRPr>
            </a:pPr>
            <a:r>
              <a:t>Auth &amp;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457200"/>
            <a:ext cx="1828800" cy="274320"/>
          </a:xfrm>
          <a:prstGeom prst="rect">
            <a:avLst/>
          </a:prstGeom>
          <a:noFill/>
        </p:spPr>
        <p:txBody>
          <a:bodyPr wrap="square">
            <a:spAutoFit/>
          </a:bodyPr>
          <a:lstStyle/>
          <a:p>
            <a:pPr algn="l">
              <a:defRPr sz="4000" b="1">
                <a:solidFill>
                  <a:srgbClr val="666677"/>
                </a:solidFill>
                <a:latin typeface="Archivo Black"/>
              </a:defRPr>
            </a:pPr>
            <a:r>
              <a:t>08</a:t>
            </a:r>
          </a:p>
        </p:txBody>
      </p:sp>
      <p:sp>
        <p:nvSpPr>
          <p:cNvPr id="3" name="Rectangle 2"/>
          <p:cNvSpPr/>
          <p:nvPr/>
        </p:nvSpPr>
        <p:spPr>
          <a:xfrm>
            <a:off x="731520" y="914400"/>
            <a:ext cx="731520" cy="36576"/>
          </a:xfrm>
          <a:prstGeom prst="rect">
            <a:avLst/>
          </a:prstGeom>
          <a:solidFill>
            <a:srgbClr val="FF5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9144000" cy="731520"/>
          </a:xfrm>
          <a:prstGeom prst="rect">
            <a:avLst/>
          </a:prstGeom>
          <a:noFill/>
        </p:spPr>
        <p:txBody>
          <a:bodyPr wrap="square">
            <a:spAutoFit/>
          </a:bodyPr>
          <a:lstStyle/>
          <a:p>
            <a:pPr algn="l">
              <a:defRPr sz="3600" b="0">
                <a:solidFill>
                  <a:srgbClr val="FFFFFF"/>
                </a:solidFill>
                <a:latin typeface="Archivo Black"/>
              </a:defRPr>
            </a:pPr>
            <a:r>
              <a:t>Safe &amp; Secure</a:t>
            </a:r>
          </a:p>
        </p:txBody>
      </p:sp>
      <p:sp>
        <p:nvSpPr>
          <p:cNvPr id="5" name="TextBox 4"/>
          <p:cNvSpPr txBox="1"/>
          <p:nvPr/>
        </p:nvSpPr>
        <p:spPr>
          <a:xfrm>
            <a:off x="731520" y="1828800"/>
            <a:ext cx="9144000" cy="457200"/>
          </a:xfrm>
          <a:prstGeom prst="rect">
            <a:avLst/>
          </a:prstGeom>
          <a:noFill/>
        </p:spPr>
        <p:txBody>
          <a:bodyPr wrap="square">
            <a:spAutoFit/>
          </a:bodyPr>
          <a:lstStyle/>
          <a:p>
            <a:pPr algn="l">
              <a:defRPr sz="1600" b="0">
                <a:solidFill>
                  <a:srgbClr val="AAAABB"/>
                </a:solidFill>
                <a:latin typeface="Space Grotesk"/>
              </a:defRPr>
            </a:pPr>
            <a:r>
              <a:t>All exchanges happen at designated meetup points across the university village.</a:t>
            </a:r>
          </a:p>
        </p:txBody>
      </p:sp>
      <p:sp>
        <p:nvSpPr>
          <p:cNvPr id="6" name="Rounded Rectangle 5"/>
          <p:cNvSpPr/>
          <p:nvPr/>
        </p:nvSpPr>
        <p:spPr>
          <a:xfrm>
            <a:off x="731520" y="25603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97479"/>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8" name="TextBox 7"/>
          <p:cNvSpPr txBox="1"/>
          <p:nvPr/>
        </p:nvSpPr>
        <p:spPr>
          <a:xfrm>
            <a:off x="1371600" y="2697479"/>
            <a:ext cx="1645920" cy="274320"/>
          </a:xfrm>
          <a:prstGeom prst="rect">
            <a:avLst/>
          </a:prstGeom>
          <a:noFill/>
        </p:spPr>
        <p:txBody>
          <a:bodyPr wrap="square">
            <a:spAutoFit/>
          </a:bodyPr>
          <a:lstStyle/>
          <a:p>
            <a:pPr algn="l">
              <a:defRPr sz="1300" b="0">
                <a:solidFill>
                  <a:srgbClr val="FFFFFF"/>
                </a:solidFill>
                <a:latin typeface="Archivo Black"/>
              </a:defRPr>
            </a:pPr>
            <a:r>
              <a:t>University Dormitory</a:t>
            </a:r>
          </a:p>
        </p:txBody>
      </p:sp>
      <p:sp>
        <p:nvSpPr>
          <p:cNvPr id="9" name="TextBox 8"/>
          <p:cNvSpPr txBox="1"/>
          <p:nvPr/>
        </p:nvSpPr>
        <p:spPr>
          <a:xfrm>
            <a:off x="914400" y="3108960"/>
            <a:ext cx="2194560" cy="365760"/>
          </a:xfrm>
          <a:prstGeom prst="rect">
            <a:avLst/>
          </a:prstGeom>
          <a:noFill/>
        </p:spPr>
        <p:txBody>
          <a:bodyPr wrap="square">
            <a:spAutoFit/>
          </a:bodyPr>
          <a:lstStyle/>
          <a:p>
            <a:pPr algn="l">
              <a:defRPr sz="1000" b="0">
                <a:solidFill>
                  <a:srgbClr val="666677"/>
                </a:solidFill>
                <a:latin typeface="Space Grotesk"/>
              </a:defRPr>
            </a:pPr>
            <a:r>
              <a:t>Central dorm area</a:t>
            </a:r>
          </a:p>
        </p:txBody>
      </p:sp>
      <p:sp>
        <p:nvSpPr>
          <p:cNvPr id="10" name="Rounded Rectangle 9"/>
          <p:cNvSpPr/>
          <p:nvPr/>
        </p:nvSpPr>
        <p:spPr>
          <a:xfrm>
            <a:off x="3611880" y="25603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60" y="2697479"/>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12" name="TextBox 11"/>
          <p:cNvSpPr txBox="1"/>
          <p:nvPr/>
        </p:nvSpPr>
        <p:spPr>
          <a:xfrm>
            <a:off x="4251960" y="2697479"/>
            <a:ext cx="1645920" cy="274320"/>
          </a:xfrm>
          <a:prstGeom prst="rect">
            <a:avLst/>
          </a:prstGeom>
          <a:noFill/>
        </p:spPr>
        <p:txBody>
          <a:bodyPr wrap="square">
            <a:spAutoFit/>
          </a:bodyPr>
          <a:lstStyle/>
          <a:p>
            <a:pPr algn="l">
              <a:defRPr sz="1300" b="0">
                <a:solidFill>
                  <a:srgbClr val="FFFFFF"/>
                </a:solidFill>
                <a:latin typeface="Archivo Black"/>
              </a:defRPr>
            </a:pPr>
            <a:r>
              <a:t>DUT Library</a:t>
            </a:r>
          </a:p>
        </p:txBody>
      </p:sp>
      <p:sp>
        <p:nvSpPr>
          <p:cNvPr id="13" name="TextBox 12"/>
          <p:cNvSpPr txBox="1"/>
          <p:nvPr/>
        </p:nvSpPr>
        <p:spPr>
          <a:xfrm>
            <a:off x="3794760" y="3108960"/>
            <a:ext cx="2194560" cy="365760"/>
          </a:xfrm>
          <a:prstGeom prst="rect">
            <a:avLst/>
          </a:prstGeom>
          <a:noFill/>
        </p:spPr>
        <p:txBody>
          <a:bodyPr wrap="square">
            <a:spAutoFit/>
          </a:bodyPr>
          <a:lstStyle/>
          <a:p>
            <a:pPr algn="l">
              <a:defRPr sz="1000" b="0">
                <a:solidFill>
                  <a:srgbClr val="666677"/>
                </a:solidFill>
                <a:latin typeface="Space Grotesk"/>
              </a:defRPr>
            </a:pPr>
            <a:r>
              <a:t>Da Nang Univ. of Science &amp; Tech</a:t>
            </a:r>
          </a:p>
        </p:txBody>
      </p:sp>
      <p:sp>
        <p:nvSpPr>
          <p:cNvPr id="14" name="Rounded Rectangle 13"/>
          <p:cNvSpPr/>
          <p:nvPr/>
        </p:nvSpPr>
        <p:spPr>
          <a:xfrm>
            <a:off x="6492240" y="25603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697479"/>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16" name="TextBox 15"/>
          <p:cNvSpPr txBox="1"/>
          <p:nvPr/>
        </p:nvSpPr>
        <p:spPr>
          <a:xfrm>
            <a:off x="7132320" y="2697479"/>
            <a:ext cx="1645920" cy="274320"/>
          </a:xfrm>
          <a:prstGeom prst="rect">
            <a:avLst/>
          </a:prstGeom>
          <a:noFill/>
        </p:spPr>
        <p:txBody>
          <a:bodyPr wrap="square">
            <a:spAutoFit/>
          </a:bodyPr>
          <a:lstStyle/>
          <a:p>
            <a:pPr algn="l">
              <a:defRPr sz="1300" b="0">
                <a:solidFill>
                  <a:srgbClr val="FFFFFF"/>
                </a:solidFill>
                <a:latin typeface="Archivo Black"/>
              </a:defRPr>
            </a:pPr>
            <a:r>
              <a:t>Main Gate</a:t>
            </a:r>
          </a:p>
        </p:txBody>
      </p:sp>
      <p:sp>
        <p:nvSpPr>
          <p:cNvPr id="17" name="TextBox 16"/>
          <p:cNvSpPr txBox="1"/>
          <p:nvPr/>
        </p:nvSpPr>
        <p:spPr>
          <a:xfrm>
            <a:off x="6675120" y="3108960"/>
            <a:ext cx="2194560" cy="365760"/>
          </a:xfrm>
          <a:prstGeom prst="rect">
            <a:avLst/>
          </a:prstGeom>
          <a:noFill/>
        </p:spPr>
        <p:txBody>
          <a:bodyPr wrap="square">
            <a:spAutoFit/>
          </a:bodyPr>
          <a:lstStyle/>
          <a:p>
            <a:pPr algn="l">
              <a:defRPr sz="1000" b="0">
                <a:solidFill>
                  <a:srgbClr val="666677"/>
                </a:solidFill>
                <a:latin typeface="Space Grotesk"/>
              </a:defRPr>
            </a:pPr>
            <a:r>
              <a:t>University village entrance</a:t>
            </a:r>
          </a:p>
        </p:txBody>
      </p:sp>
      <p:sp>
        <p:nvSpPr>
          <p:cNvPr id="18" name="Rounded Rectangle 17"/>
          <p:cNvSpPr/>
          <p:nvPr/>
        </p:nvSpPr>
        <p:spPr>
          <a:xfrm>
            <a:off x="9372600" y="25603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55480" y="2697479"/>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20" name="TextBox 19"/>
          <p:cNvSpPr txBox="1"/>
          <p:nvPr/>
        </p:nvSpPr>
        <p:spPr>
          <a:xfrm>
            <a:off x="10012680" y="2697479"/>
            <a:ext cx="1645920" cy="274320"/>
          </a:xfrm>
          <a:prstGeom prst="rect">
            <a:avLst/>
          </a:prstGeom>
          <a:noFill/>
        </p:spPr>
        <p:txBody>
          <a:bodyPr wrap="square">
            <a:spAutoFit/>
          </a:bodyPr>
          <a:lstStyle/>
          <a:p>
            <a:pPr algn="l">
              <a:defRPr sz="1300" b="0">
                <a:solidFill>
                  <a:srgbClr val="FFFFFF"/>
                </a:solidFill>
                <a:latin typeface="Archivo Black"/>
              </a:defRPr>
            </a:pPr>
            <a:r>
              <a:t>UED Cafeteria</a:t>
            </a:r>
          </a:p>
        </p:txBody>
      </p:sp>
      <p:sp>
        <p:nvSpPr>
          <p:cNvPr id="21" name="TextBox 20"/>
          <p:cNvSpPr txBox="1"/>
          <p:nvPr/>
        </p:nvSpPr>
        <p:spPr>
          <a:xfrm>
            <a:off x="9555480" y="3108960"/>
            <a:ext cx="2194560" cy="365760"/>
          </a:xfrm>
          <a:prstGeom prst="rect">
            <a:avLst/>
          </a:prstGeom>
          <a:noFill/>
        </p:spPr>
        <p:txBody>
          <a:bodyPr wrap="square">
            <a:spAutoFit/>
          </a:bodyPr>
          <a:lstStyle/>
          <a:p>
            <a:pPr algn="l">
              <a:defRPr sz="1000" b="0">
                <a:solidFill>
                  <a:srgbClr val="666677"/>
                </a:solidFill>
                <a:latin typeface="Space Grotesk"/>
              </a:defRPr>
            </a:pPr>
            <a:r>
              <a:t>Univ. of Science &amp; Education</a:t>
            </a:r>
          </a:p>
        </p:txBody>
      </p:sp>
      <p:sp>
        <p:nvSpPr>
          <p:cNvPr id="22" name="Rounded Rectangle 21"/>
          <p:cNvSpPr/>
          <p:nvPr/>
        </p:nvSpPr>
        <p:spPr>
          <a:xfrm>
            <a:off x="731520" y="43891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526280"/>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24" name="TextBox 23"/>
          <p:cNvSpPr txBox="1"/>
          <p:nvPr/>
        </p:nvSpPr>
        <p:spPr>
          <a:xfrm>
            <a:off x="1371600" y="4526280"/>
            <a:ext cx="1645920" cy="274320"/>
          </a:xfrm>
          <a:prstGeom prst="rect">
            <a:avLst/>
          </a:prstGeom>
          <a:noFill/>
        </p:spPr>
        <p:txBody>
          <a:bodyPr wrap="square">
            <a:spAutoFit/>
          </a:bodyPr>
          <a:lstStyle/>
          <a:p>
            <a:pPr algn="l">
              <a:defRPr sz="1300" b="0">
                <a:solidFill>
                  <a:srgbClr val="FFFFFF"/>
                </a:solidFill>
                <a:latin typeface="Archivo Black"/>
              </a:defRPr>
            </a:pPr>
            <a:r>
              <a:t>DUE Lobby</a:t>
            </a:r>
          </a:p>
        </p:txBody>
      </p:sp>
      <p:sp>
        <p:nvSpPr>
          <p:cNvPr id="25" name="TextBox 24"/>
          <p:cNvSpPr txBox="1"/>
          <p:nvPr/>
        </p:nvSpPr>
        <p:spPr>
          <a:xfrm>
            <a:off x="914400" y="4937759"/>
            <a:ext cx="2194560" cy="365760"/>
          </a:xfrm>
          <a:prstGeom prst="rect">
            <a:avLst/>
          </a:prstGeom>
          <a:noFill/>
        </p:spPr>
        <p:txBody>
          <a:bodyPr wrap="square">
            <a:spAutoFit/>
          </a:bodyPr>
          <a:lstStyle/>
          <a:p>
            <a:pPr algn="l">
              <a:defRPr sz="1000" b="0">
                <a:solidFill>
                  <a:srgbClr val="666677"/>
                </a:solidFill>
                <a:latin typeface="Space Grotesk"/>
              </a:defRPr>
            </a:pPr>
            <a:r>
              <a:t>Univ. of Economics</a:t>
            </a:r>
          </a:p>
        </p:txBody>
      </p:sp>
      <p:sp>
        <p:nvSpPr>
          <p:cNvPr id="26" name="Rounded Rectangle 25"/>
          <p:cNvSpPr/>
          <p:nvPr/>
        </p:nvSpPr>
        <p:spPr>
          <a:xfrm>
            <a:off x="3611880" y="43891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94760" y="4526280"/>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28" name="TextBox 27"/>
          <p:cNvSpPr txBox="1"/>
          <p:nvPr/>
        </p:nvSpPr>
        <p:spPr>
          <a:xfrm>
            <a:off x="4251960" y="4526280"/>
            <a:ext cx="1645920" cy="274320"/>
          </a:xfrm>
          <a:prstGeom prst="rect">
            <a:avLst/>
          </a:prstGeom>
          <a:noFill/>
        </p:spPr>
        <p:txBody>
          <a:bodyPr wrap="square">
            <a:spAutoFit/>
          </a:bodyPr>
          <a:lstStyle/>
          <a:p>
            <a:pPr algn="l">
              <a:defRPr sz="1300" b="0">
                <a:solidFill>
                  <a:srgbClr val="FFFFFF"/>
                </a:solidFill>
                <a:latin typeface="Archivo Black"/>
              </a:defRPr>
            </a:pPr>
            <a:r>
              <a:t>UFL Library</a:t>
            </a:r>
          </a:p>
        </p:txBody>
      </p:sp>
      <p:sp>
        <p:nvSpPr>
          <p:cNvPr id="29" name="TextBox 28"/>
          <p:cNvSpPr txBox="1"/>
          <p:nvPr/>
        </p:nvSpPr>
        <p:spPr>
          <a:xfrm>
            <a:off x="3794760" y="4937759"/>
            <a:ext cx="2194560" cy="365760"/>
          </a:xfrm>
          <a:prstGeom prst="rect">
            <a:avLst/>
          </a:prstGeom>
          <a:noFill/>
        </p:spPr>
        <p:txBody>
          <a:bodyPr wrap="square">
            <a:spAutoFit/>
          </a:bodyPr>
          <a:lstStyle/>
          <a:p>
            <a:pPr algn="l">
              <a:defRPr sz="1000" b="0">
                <a:solidFill>
                  <a:srgbClr val="666677"/>
                </a:solidFill>
                <a:latin typeface="Space Grotesk"/>
              </a:defRPr>
            </a:pPr>
            <a:r>
              <a:t>Univ. of Foreign Languages</a:t>
            </a:r>
          </a:p>
        </p:txBody>
      </p:sp>
      <p:sp>
        <p:nvSpPr>
          <p:cNvPr id="30" name="Rounded Rectangle 29"/>
          <p:cNvSpPr/>
          <p:nvPr/>
        </p:nvSpPr>
        <p:spPr>
          <a:xfrm>
            <a:off x="6492240" y="43891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4526280"/>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32" name="TextBox 31"/>
          <p:cNvSpPr txBox="1"/>
          <p:nvPr/>
        </p:nvSpPr>
        <p:spPr>
          <a:xfrm>
            <a:off x="7132320" y="4526280"/>
            <a:ext cx="1645920" cy="274320"/>
          </a:xfrm>
          <a:prstGeom prst="rect">
            <a:avLst/>
          </a:prstGeom>
          <a:noFill/>
        </p:spPr>
        <p:txBody>
          <a:bodyPr wrap="square">
            <a:spAutoFit/>
          </a:bodyPr>
          <a:lstStyle/>
          <a:p>
            <a:pPr algn="l">
              <a:defRPr sz="1300" b="0">
                <a:solidFill>
                  <a:srgbClr val="FFFFFF"/>
                </a:solidFill>
                <a:latin typeface="Archivo Black"/>
              </a:defRPr>
            </a:pPr>
            <a:r>
              <a:t>Self-Study Hub</a:t>
            </a:r>
          </a:p>
        </p:txBody>
      </p:sp>
      <p:sp>
        <p:nvSpPr>
          <p:cNvPr id="33" name="TextBox 32"/>
          <p:cNvSpPr txBox="1"/>
          <p:nvPr/>
        </p:nvSpPr>
        <p:spPr>
          <a:xfrm>
            <a:off x="6675120" y="4937759"/>
            <a:ext cx="2194560" cy="365760"/>
          </a:xfrm>
          <a:prstGeom prst="rect">
            <a:avLst/>
          </a:prstGeom>
          <a:noFill/>
        </p:spPr>
        <p:txBody>
          <a:bodyPr wrap="square">
            <a:spAutoFit/>
          </a:bodyPr>
          <a:lstStyle/>
          <a:p>
            <a:pPr algn="l">
              <a:defRPr sz="1000" b="0">
                <a:solidFill>
                  <a:srgbClr val="666677"/>
                </a:solidFill>
                <a:latin typeface="Space Grotesk"/>
              </a:defRPr>
            </a:pPr>
            <a:r>
              <a:t>Central study area</a:t>
            </a:r>
          </a:p>
        </p:txBody>
      </p:sp>
      <p:sp>
        <p:nvSpPr>
          <p:cNvPr id="34" name="Rounded Rectangle 33"/>
          <p:cNvSpPr/>
          <p:nvPr/>
        </p:nvSpPr>
        <p:spPr>
          <a:xfrm>
            <a:off x="9372600" y="4389120"/>
            <a:ext cx="2560320" cy="14630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55480" y="4526280"/>
            <a:ext cx="365760" cy="365760"/>
          </a:xfrm>
          <a:prstGeom prst="rect">
            <a:avLst/>
          </a:prstGeom>
          <a:noFill/>
        </p:spPr>
        <p:txBody>
          <a:bodyPr wrap="square">
            <a:spAutoFit/>
          </a:bodyPr>
          <a:lstStyle/>
          <a:p>
            <a:pPr algn="l">
              <a:defRPr sz="1800" b="0">
                <a:solidFill>
                  <a:srgbClr val="FFFFFF"/>
                </a:solidFill>
                <a:latin typeface="Space Grotesk"/>
              </a:defRPr>
            </a:pPr>
            <a:r>
              <a:t>🍲</a:t>
            </a:r>
          </a:p>
        </p:txBody>
      </p:sp>
      <p:sp>
        <p:nvSpPr>
          <p:cNvPr id="36" name="TextBox 35"/>
          <p:cNvSpPr txBox="1"/>
          <p:nvPr/>
        </p:nvSpPr>
        <p:spPr>
          <a:xfrm>
            <a:off x="10012680" y="4526280"/>
            <a:ext cx="1645920" cy="274320"/>
          </a:xfrm>
          <a:prstGeom prst="rect">
            <a:avLst/>
          </a:prstGeom>
          <a:noFill/>
        </p:spPr>
        <p:txBody>
          <a:bodyPr wrap="square">
            <a:spAutoFit/>
          </a:bodyPr>
          <a:lstStyle/>
          <a:p>
            <a:pPr algn="l">
              <a:defRPr sz="1300" b="0">
                <a:solidFill>
                  <a:srgbClr val="FFFFFF"/>
                </a:solidFill>
                <a:latin typeface="Archivo Black"/>
              </a:defRPr>
            </a:pPr>
            <a:r>
              <a:t>DUT Canteen</a:t>
            </a:r>
          </a:p>
        </p:txBody>
      </p:sp>
      <p:sp>
        <p:nvSpPr>
          <p:cNvPr id="37" name="TextBox 36"/>
          <p:cNvSpPr txBox="1"/>
          <p:nvPr/>
        </p:nvSpPr>
        <p:spPr>
          <a:xfrm>
            <a:off x="9555480" y="4937759"/>
            <a:ext cx="2194560" cy="365760"/>
          </a:xfrm>
          <a:prstGeom prst="rect">
            <a:avLst/>
          </a:prstGeom>
          <a:noFill/>
        </p:spPr>
        <p:txBody>
          <a:bodyPr wrap="square">
            <a:spAutoFit/>
          </a:bodyPr>
          <a:lstStyle/>
          <a:p>
            <a:pPr algn="l">
              <a:defRPr sz="1000" b="0">
                <a:solidFill>
                  <a:srgbClr val="666677"/>
                </a:solidFill>
                <a:latin typeface="Space Grotesk"/>
              </a:defRPr>
            </a:pPr>
            <a:r>
              <a:t>Da Nang Univ. of Science &amp; Tech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A"/>
        </a:solidFill>
        <a:effectLst/>
      </p:bgPr>
    </p:bg>
    <p:spTree>
      <p:nvGrpSpPr>
        <p:cNvPr id="1" name=""/>
        <p:cNvGrpSpPr/>
        <p:nvPr/>
      </p:nvGrpSpPr>
      <p:grpSpPr/>
      <p:sp>
        <p:nvSpPr>
          <p:cNvPr id="2" name="TextBox 1"/>
          <p:cNvSpPr txBox="1"/>
          <p:nvPr/>
        </p:nvSpPr>
        <p:spPr>
          <a:xfrm>
            <a:off x="731520" y="1371600"/>
            <a:ext cx="10058400" cy="1371600"/>
          </a:xfrm>
          <a:prstGeom prst="rect">
            <a:avLst/>
          </a:prstGeom>
          <a:noFill/>
        </p:spPr>
        <p:txBody>
          <a:bodyPr wrap="square">
            <a:spAutoFit/>
          </a:bodyPr>
          <a:lstStyle/>
          <a:p>
            <a:pPr algn="ctr">
              <a:defRPr sz="4800" b="0">
                <a:solidFill>
                  <a:srgbClr val="FFFFFF"/>
                </a:solidFill>
                <a:latin typeface="Archivo Black"/>
              </a:defRPr>
            </a:pPr>
            <a:r>
              <a:t>Join the Movement</a:t>
            </a:r>
          </a:p>
        </p:txBody>
      </p:sp>
      <p:sp>
        <p:nvSpPr>
          <p:cNvPr id="3" name="TextBox 2"/>
          <p:cNvSpPr txBox="1"/>
          <p:nvPr/>
        </p:nvSpPr>
        <p:spPr>
          <a:xfrm>
            <a:off x="731520" y="2743200"/>
            <a:ext cx="10058400" cy="548640"/>
          </a:xfrm>
          <a:prstGeom prst="rect">
            <a:avLst/>
          </a:prstGeom>
          <a:noFill/>
        </p:spPr>
        <p:txBody>
          <a:bodyPr wrap="square">
            <a:spAutoFit/>
          </a:bodyPr>
          <a:lstStyle/>
          <a:p>
            <a:pPr algn="ctr">
              <a:defRPr sz="2000" b="0">
                <a:solidFill>
                  <a:srgbClr val="AAAABB"/>
                </a:solidFill>
                <a:latin typeface="Space Grotesk"/>
              </a:defRPr>
            </a:pPr>
            <a:r>
              <a:t>Open Source  ·  Community Driven  ·  Student Powered</a:t>
            </a:r>
          </a:p>
        </p:txBody>
      </p:sp>
      <p:sp>
        <p:nvSpPr>
          <p:cNvPr id="4" name="TextBox 3"/>
          <p:cNvSpPr txBox="1"/>
          <p:nvPr/>
        </p:nvSpPr>
        <p:spPr>
          <a:xfrm>
            <a:off x="731520" y="3474720"/>
            <a:ext cx="10058400" cy="731520"/>
          </a:xfrm>
          <a:prstGeom prst="rect">
            <a:avLst/>
          </a:prstGeom>
          <a:noFill/>
        </p:spPr>
        <p:txBody>
          <a:bodyPr wrap="square">
            <a:spAutoFit/>
          </a:bodyPr>
          <a:lstStyle/>
          <a:p>
            <a:pPr algn="ctr">
              <a:defRPr sz="1400" b="0">
                <a:solidFill>
                  <a:srgbClr val="AAAABB"/>
                </a:solidFill>
                <a:latin typeface="Space Grotesk"/>
              </a:defRPr>
            </a:pPr>
            <a:r>
              <a:t>DN-UniShare is built by students, for students. Contribute, share, and help build a more connected university village.</a:t>
            </a:r>
          </a:p>
        </p:txBody>
      </p:sp>
      <p:sp>
        <p:nvSpPr>
          <p:cNvPr id="5" name="Rounded Rectangle 4"/>
          <p:cNvSpPr/>
          <p:nvPr/>
        </p:nvSpPr>
        <p:spPr>
          <a:xfrm>
            <a:off x="1371600" y="4572000"/>
            <a:ext cx="1280160" cy="5486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4617720"/>
            <a:ext cx="1097280" cy="457200"/>
          </a:xfrm>
          <a:prstGeom prst="rect">
            <a:avLst/>
          </a:prstGeom>
          <a:noFill/>
        </p:spPr>
        <p:txBody>
          <a:bodyPr wrap="square">
            <a:spAutoFit/>
          </a:bodyPr>
          <a:lstStyle/>
          <a:p>
            <a:pPr algn="ctr">
              <a:defRPr sz="1000" b="0">
                <a:solidFill>
                  <a:srgbClr val="AAAABB"/>
                </a:solidFill>
                <a:latin typeface="Space Grotesk"/>
              </a:defRPr>
            </a:pPr>
            <a:r>
              <a:t>REST API</a:t>
            </a:r>
          </a:p>
        </p:txBody>
      </p:sp>
      <p:sp>
        <p:nvSpPr>
          <p:cNvPr id="7" name="Rounded Rectangle 6"/>
          <p:cNvSpPr/>
          <p:nvPr/>
        </p:nvSpPr>
        <p:spPr>
          <a:xfrm>
            <a:off x="2834640" y="4572000"/>
            <a:ext cx="1280160" cy="5486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4617720"/>
            <a:ext cx="1097280" cy="457200"/>
          </a:xfrm>
          <a:prstGeom prst="rect">
            <a:avLst/>
          </a:prstGeom>
          <a:noFill/>
        </p:spPr>
        <p:txBody>
          <a:bodyPr wrap="square">
            <a:spAutoFit/>
          </a:bodyPr>
          <a:lstStyle/>
          <a:p>
            <a:pPr algn="ctr">
              <a:defRPr sz="1000" b="0">
                <a:solidFill>
                  <a:srgbClr val="AAAABB"/>
                </a:solidFill>
                <a:latin typeface="Space Grotesk"/>
              </a:defRPr>
            </a:pPr>
            <a:r>
              <a:t>Email Auth</a:t>
            </a:r>
          </a:p>
        </p:txBody>
      </p:sp>
      <p:sp>
        <p:nvSpPr>
          <p:cNvPr id="9" name="Rounded Rectangle 8"/>
          <p:cNvSpPr/>
          <p:nvPr/>
        </p:nvSpPr>
        <p:spPr>
          <a:xfrm>
            <a:off x="4297680" y="4572000"/>
            <a:ext cx="1280160" cy="5486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4617720"/>
            <a:ext cx="1097280" cy="457200"/>
          </a:xfrm>
          <a:prstGeom prst="rect">
            <a:avLst/>
          </a:prstGeom>
          <a:noFill/>
        </p:spPr>
        <p:txBody>
          <a:bodyPr wrap="square">
            <a:spAutoFit/>
          </a:bodyPr>
          <a:lstStyle/>
          <a:p>
            <a:pPr algn="ctr">
              <a:defRPr sz="1000" b="0">
                <a:solidFill>
                  <a:srgbClr val="AAAABB"/>
                </a:solidFill>
                <a:latin typeface="Space Grotesk"/>
              </a:defRPr>
            </a:pPr>
            <a:r>
              <a:t>Image Upload</a:t>
            </a:r>
          </a:p>
        </p:txBody>
      </p:sp>
      <p:sp>
        <p:nvSpPr>
          <p:cNvPr id="11" name="Rounded Rectangle 10"/>
          <p:cNvSpPr/>
          <p:nvPr/>
        </p:nvSpPr>
        <p:spPr>
          <a:xfrm>
            <a:off x="5760720" y="4572000"/>
            <a:ext cx="1280160" cy="5486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4617720"/>
            <a:ext cx="1097280" cy="457200"/>
          </a:xfrm>
          <a:prstGeom prst="rect">
            <a:avLst/>
          </a:prstGeom>
          <a:noFill/>
        </p:spPr>
        <p:txBody>
          <a:bodyPr wrap="square">
            <a:spAutoFit/>
          </a:bodyPr>
          <a:lstStyle/>
          <a:p>
            <a:pPr algn="ctr">
              <a:defRPr sz="1000" b="0">
                <a:solidFill>
                  <a:srgbClr val="AAAABB"/>
                </a:solidFill>
                <a:latin typeface="Space Grotesk"/>
              </a:defRPr>
            </a:pPr>
            <a:r>
              <a:t>Real-time Chat</a:t>
            </a:r>
          </a:p>
        </p:txBody>
      </p:sp>
      <p:sp>
        <p:nvSpPr>
          <p:cNvPr id="13" name="Rounded Rectangle 12"/>
          <p:cNvSpPr/>
          <p:nvPr/>
        </p:nvSpPr>
        <p:spPr>
          <a:xfrm>
            <a:off x="7223760" y="4572000"/>
            <a:ext cx="1280160" cy="5486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4617720"/>
            <a:ext cx="1097280" cy="457200"/>
          </a:xfrm>
          <a:prstGeom prst="rect">
            <a:avLst/>
          </a:prstGeom>
          <a:noFill/>
        </p:spPr>
        <p:txBody>
          <a:bodyPr wrap="square">
            <a:spAutoFit/>
          </a:bodyPr>
          <a:lstStyle/>
          <a:p>
            <a:pPr algn="ctr">
              <a:defRPr sz="1000" b="0">
                <a:solidFill>
                  <a:srgbClr val="AAAABB"/>
                </a:solidFill>
                <a:latin typeface="Space Grotesk"/>
              </a:defRPr>
            </a:pPr>
            <a:r>
              <a:t>Push Notifications</a:t>
            </a:r>
          </a:p>
        </p:txBody>
      </p:sp>
      <p:sp>
        <p:nvSpPr>
          <p:cNvPr id="15" name="Rounded Rectangle 14"/>
          <p:cNvSpPr/>
          <p:nvPr/>
        </p:nvSpPr>
        <p:spPr>
          <a:xfrm>
            <a:off x="8686800" y="4572000"/>
            <a:ext cx="1280160" cy="5486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4617720"/>
            <a:ext cx="1097280" cy="457200"/>
          </a:xfrm>
          <a:prstGeom prst="rect">
            <a:avLst/>
          </a:prstGeom>
          <a:noFill/>
        </p:spPr>
        <p:txBody>
          <a:bodyPr wrap="square">
            <a:spAutoFit/>
          </a:bodyPr>
          <a:lstStyle/>
          <a:p>
            <a:pPr algn="ctr">
              <a:defRPr sz="1000" b="0">
                <a:solidFill>
                  <a:srgbClr val="AAAABB"/>
                </a:solidFill>
                <a:latin typeface="Space Grotesk"/>
              </a:defRPr>
            </a:pPr>
            <a:r>
              <a:t>University Filters</a:t>
            </a:r>
          </a:p>
        </p:txBody>
      </p:sp>
      <p:sp>
        <p:nvSpPr>
          <p:cNvPr id="17" name="Rounded Rectangle 16"/>
          <p:cNvSpPr/>
          <p:nvPr/>
        </p:nvSpPr>
        <p:spPr>
          <a:xfrm>
            <a:off x="10149840" y="4572000"/>
            <a:ext cx="1280160" cy="548640"/>
          </a:xfrm>
          <a:prstGeom prst="roundRect">
            <a:avLst/>
          </a:prstGeom>
          <a:solidFill>
            <a:srgbClr val="1E1E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0" y="4617720"/>
            <a:ext cx="1097280" cy="457200"/>
          </a:xfrm>
          <a:prstGeom prst="rect">
            <a:avLst/>
          </a:prstGeom>
          <a:noFill/>
        </p:spPr>
        <p:txBody>
          <a:bodyPr wrap="square">
            <a:spAutoFit/>
          </a:bodyPr>
          <a:lstStyle/>
          <a:p>
            <a:pPr algn="ctr">
              <a:defRPr sz="1000" b="0">
                <a:solidFill>
                  <a:srgbClr val="AAAABB"/>
                </a:solidFill>
                <a:latin typeface="Space Grotesk"/>
              </a:defRPr>
            </a:pPr>
            <a:r>
              <a:t>PWA</a:t>
            </a:r>
          </a:p>
        </p:txBody>
      </p:sp>
      <p:sp>
        <p:nvSpPr>
          <p:cNvPr id="19" name="TextBox 18"/>
          <p:cNvSpPr txBox="1"/>
          <p:nvPr/>
        </p:nvSpPr>
        <p:spPr>
          <a:xfrm>
            <a:off x="731520" y="5669280"/>
            <a:ext cx="10058400" cy="457200"/>
          </a:xfrm>
          <a:prstGeom prst="rect">
            <a:avLst/>
          </a:prstGeom>
          <a:noFill/>
        </p:spPr>
        <p:txBody>
          <a:bodyPr wrap="square">
            <a:spAutoFit/>
          </a:bodyPr>
          <a:lstStyle/>
          <a:p>
            <a:pPr algn="ctr">
              <a:defRPr sz="1200" b="0">
                <a:solidFill>
                  <a:srgbClr val="666677"/>
                </a:solidFill>
                <a:latin typeface="Space Grotesk"/>
              </a:defRPr>
            </a:pPr>
            <a:r>
              <a:t>Made with 💚 for Da Nang Students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